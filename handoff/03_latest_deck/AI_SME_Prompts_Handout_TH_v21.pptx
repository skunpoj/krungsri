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6 — ตัวเลือกพรีเซนต์สด (เฉพาะผู้บรรยาย): รันด้วย Claude Code ใน VS Code + ส่วนขยาย Pixel Agents เพื่อให้ผู้ชมเห็นเอเจนต์เป็นตัวละครในออฟฟิศพิกเซล. Orchestrator = เซสชัน Claude Code หลัก; sub-agent แต่ละตัว (Market Scout / Tariff Analyst / Doc Drafter / Doc Reader / Compliance) ถูกสร้างผ่าน Task tool และปรากฏเป็นตัวละครแยกที่เชื่อมกับ parent. ติดตั้ง Pixel Agents จาก VS Code Marketplace (ต้องมี Claude Code CLI ก่อน). ดูขั้นตอนเต็มและ master prompt ในไฟล์ runbook ที่แนบมา. ข้อควรระวัง: การตรวจสถานะเป็น heuristic อาจคลาดเคลื่อน/ desync ได้ — ซ้อมก่อนและอัดวิดีโอสำรองไว้; อย่าใช้ --dangerously-skip-permissions บนเครื่องที่เข้าถึงข้อมูลสำคัญ (ถ้าจะใช้ ให้รันใน VM/แซนด์บ็อกซ์).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วิธีรันสดด้วย Pixel Agents: 1) เปิดโฟลเดอร์เปล่าใน VS Code  2) เปิดแผง Pixel Agents → + Agent (เริ่มเซสชัน Claude Code)  3) วาง master prompt นี้ โดยสั่งให้ orchestrator ใช้ Task tool แตกเป็น 5 sub-agent ตามบทบาท และให้ Doc Drafter เขียนไฟล์จริง (เช่น invoice.md, packing_list.md) เพื่อโยงกับไฟล์ PDF ตัวอย่าง  4) ผู้ชมจะเห็นตัวละคร 5 ตัวทำงาน. แผนสำรอง: ถ้า desync/เน็ตช้า ใช้วิดีโอที่อัดล่วงหน้า. orchestrator prompt เต็ม (สั่งใช้ Task tool) อยู่ในไฟล์ runbook ที่แนบมา.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3258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5765292" y="13258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998464" y="13258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532120" y="15590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949AB"/>
          </a:solidFill>
          <a:ln/>
        </p:spPr>
      </p:sp>
      <p:sp>
        <p:nvSpPr>
          <p:cNvPr id="6" name="Shape 4"/>
          <p:cNvSpPr/>
          <p:nvPr/>
        </p:nvSpPr>
        <p:spPr>
          <a:xfrm>
            <a:off x="5765292" y="15590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6231636" y="15590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sp>
        <p:nvSpPr>
          <p:cNvPr id="8" name="Shape 6"/>
          <p:cNvSpPr/>
          <p:nvPr/>
        </p:nvSpPr>
        <p:spPr>
          <a:xfrm>
            <a:off x="5765292" y="179222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998464" y="179222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E7490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179222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3949AB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179222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42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สำหรับธุรกิจ SME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ตัวอย่าง — ทำตามได้เลย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Claude.ai หรือ ChatGPT แล้วพิมพ์ตามทีละขั้น  ·  5 วิธีทำ + 2 โบนัส  ·  18 prompt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06040" y="5138928"/>
            <a:ext cx="6976872" cy="841248"/>
          </a:xfrm>
          <a:prstGeom prst="roundRect">
            <a:avLst>
              <a:gd name="adj" fmla="val 5000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5449824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64408" y="51389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เคล็ดลับ: สแกน QR ในแต่ละสไลด์ เปิดแชตพร้อม prompt ทันที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420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420624"/>
            <a:ext cx="91440" cy="91440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303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3949AB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5303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530352"/>
            <a:ext cx="91440" cy="91440"/>
          </a:xfrm>
          <a:prstGeom prst="roundRect">
            <a:avLst>
              <a:gd name="adj" fmla="val 30000"/>
            </a:avLst>
          </a:prstGeom>
          <a:solidFill>
            <a:srgbClr val="C2185B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6400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6400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6400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3949A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6400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วิธีใช้สไลด์ชุดนี้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1655064"/>
            <a:ext cx="603504" cy="60350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6550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27632" y="156362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เปิดเครื่องมือ AI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27632" y="194767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Claude.ai หรือ ChatGPT บนคอม/มือถือ · เปิดโหมด Web Search ให้ดึงข้อมูลสด (ภาษี ราคา ข่าว)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24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862072"/>
            <a:ext cx="603504" cy="603504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62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27632" y="27706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QR หรือคัดลอก prompt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27632" y="31546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QR เปิดแชตพร้อม prompt แล้วทำตามไปพร้อมกันบนมือถือ — หรือพิมพ์/คัดลอกจากกล่อง "พิมพ์/คัดลอกนี้"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069080"/>
            <a:ext cx="603504" cy="60350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69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27632" y="39776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แทนคำใน [วงเล็บ]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27632" y="43616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เปลี่ยน [ชื่อสินค้า] [ประเทศ] [ราคา] เป็นข้อมูลจริงของธุรกิจคุณ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38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5276088"/>
            <a:ext cx="603504" cy="603504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76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27632" y="51846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ดูผล แล้วถามต่อ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27632" y="55686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กล่อง "AI จะตอบประมาณนี้" บอกว่าจะได้อะไร · ถามต่อได้เรื่อยๆ จนได้คำตอบที่ใช้ได้</a:t>
            </a:r>
            <a:endParaRPr lang="en-US" sz="13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เปิดใน ChatGPT (พร้อม prompt) · ข้อมูลภาษี/กฎเปลี่ยนเร็ว — ตรวจกับแหล่งทางการ (CBP, USTR, กรมศุลฯ) ก่อนใช้จริงเสมอ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วันนี้เราทำอะไรกันบ้าง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วิธีทำ + 2 โบนัส · ทำตามได้เลยบนมือถือ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61872"/>
            <a:ext cx="73152" cy="12435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61872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444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หาตลาด + ผู้ซื้อ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82880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วิเคราะห์ข้อมูลส่งออก Top 5 ตลาด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1261872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11296" y="1261872"/>
            <a:ext cx="73152" cy="1243584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261872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61104" y="1444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ภาษี + Landed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61104" y="182880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 · Trump tariff · เปรียบ 3 ตลาด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73952" y="1261872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261872"/>
            <a:ext cx="73152" cy="124358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6638544" y="1261872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1444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สร้างเอกสาร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182880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→ Packing List อัตโนมัติ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36608" y="1261872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36608" y="1261872"/>
            <a:ext cx="73152" cy="1243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261872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86416" y="1444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อ่านเอกสาร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86416" y="182880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สกัดข้อมูล ตรวจ L/C · Compliance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2615184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615184"/>
            <a:ext cx="73152" cy="1243584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2615184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279806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ตรวจความสอดคล้อง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3182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 discrepancy ข้ามเอกสาร 3 ชุด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11296" y="2615184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3833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11296" y="2615184"/>
            <a:ext cx="73152" cy="1243584"/>
          </a:xfrm>
          <a:prstGeom prst="rect">
            <a:avLst/>
          </a:prstGeom>
          <a:solidFill>
            <a:srgbClr val="38332B"/>
          </a:solidFill>
          <a:ln/>
        </p:spPr>
      </p:sp>
      <p:sp>
        <p:nvSpPr>
          <p:cNvPr id="31" name="Text 29"/>
          <p:cNvSpPr/>
          <p:nvPr/>
        </p:nvSpPr>
        <p:spPr>
          <a:xfrm>
            <a:off x="3675888" y="2615184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61104" y="279806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เลขา AI (Pixel Agents)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61104" y="3182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มัลติเอเจนต์ทำครบ 6 ขั้นคำสั่งเดียว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2615184"/>
            <a:ext cx="285292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7780">
            <a:solidFill>
              <a:srgbClr val="C039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2615184"/>
            <a:ext cx="73152" cy="1243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6638544" y="2615184"/>
            <a:ext cx="530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23760" y="279806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ทำครบ 1 รอบ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3182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หาตลาด→ภาษี→เอกสาร→ตรวจ ในแชตเดียว</a:t>
            </a:r>
            <a:endParaRPr lang="en-US" sz="105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ไฟล์ตัวอย่างและ QR แนบในแต่ละสไลด์ · ใช้มือถือสแกนทำตามได้ทันที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288" y="137160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44288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หาตลาดและ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ผู้ซื้อต่างชาติ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286000" y="4297680"/>
            <a:ext cx="7616952" cy="1371600"/>
          </a:xfrm>
          <a:prstGeom prst="roundRect">
            <a:avLst>
              <a:gd name="adj" fmla="val 6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443984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เตรียมตัว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4809744"/>
            <a:ext cx="6976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Web Search · เตรียมชื่อสินค้าที่อยากส่งออก · ใช้คู่กับ Thaitrade.com / ImportGenius ได้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ขั้นตอน · จาก "ไม่รู้จะขายใคร" สู่รายชื่อผู้ซื้อ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 · ไฟล์ตัวอย่าง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ไฟล์ข้อมูลส่งออก — เปิดดูก่อนเริ่ม HOW TO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6809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นี่คือไฟล์ที่เราจะแนบให้ AI วิเคราะห์ · ดาวน์โหลดได้ที่ QR ภาคผนวก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7955280" cy="5047488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170432"/>
            <a:ext cx="7845552" cy="566928"/>
          </a:xfrm>
          <a:prstGeom prst="roundRect">
            <a:avLst>
              <a:gd name="adj" fmla="val 8065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2252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เดือน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26464" y="12252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46704" y="1225296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0" y="12252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ประเทศ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1225296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 (กก.)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65392" y="122529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 (USD)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0" y="122529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190195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26464" y="1901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ชิ้นส่วนยานยนต์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190195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8708.99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ญี่ปุ่น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90195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190195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$74,616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1901952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Bangkok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" y="2505456"/>
            <a:ext cx="7845552" cy="64008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25786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26464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ถุงมือยางทางการแพทย์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46704" y="2578608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4015.12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2578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สหรัฐอเมริกา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57860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2578608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$40,036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57860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Bangkok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" y="3255264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26464" y="32552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ข้าวหอมมะลิ 100%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46704" y="325526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1006.30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2552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เกาหลีใต้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2552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325526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$13,767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325526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" y="3858768"/>
            <a:ext cx="7845552" cy="64008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393192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26464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สับปะรดกระป๋อง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46704" y="393192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2008.20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สหรัฐอเมริกา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3931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34,000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65392" y="39319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$31,291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39319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Laem Chabang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" y="460857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426464" y="46085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แป้งมันสำปะหลัง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46704" y="4608576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1108.14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0" y="4608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เยอรมนี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4608576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65392" y="460857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$14,538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0" y="4608576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Bangkok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3504" y="5212080"/>
            <a:ext cx="7845552" cy="640080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" y="528523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426464" y="5285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ข้าวหอมมะลิ 100%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46704" y="528523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1006.30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11480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อินเดีย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0" y="528523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31,000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65392" y="52852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$37,200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80960" y="5285232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Bangkok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1520" y="587044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72 shipments ทั้งหมด (ม.ค. 2025 – พ.ค. 2026)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32520" y="1115568"/>
            <a:ext cx="3127248" cy="5047488"/>
          </a:xfrm>
          <a:prstGeom prst="roundRect">
            <a:avLst>
              <a:gd name="adj" fmla="val 2047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915400" y="129844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สรุปไฟล์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933688" y="1737360"/>
            <a:ext cx="272491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33688" y="1773936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8933688" y="21945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933688" y="2724912"/>
            <a:ext cx="272491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33688" y="276148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8933688" y="31821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ประเภทสินค้า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933688" y="3712464"/>
            <a:ext cx="272491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33688" y="37490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8933688" y="416966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ตลาด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933688" y="4700016"/>
            <a:ext cx="272491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33688" y="47365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$3.4M</a:t>
            </a:r>
            <a:endParaRPr lang="en-US" sz="2400" dirty="0"/>
          </a:p>
        </p:txBody>
      </p:sp>
      <p:sp>
        <p:nvSpPr>
          <p:cNvPr id="74" name="Text 72"/>
          <p:cNvSpPr/>
          <p:nvPr/>
        </p:nvSpPr>
        <p:spPr>
          <a:xfrm>
            <a:off x="8933688" y="515721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มูลค่ารวม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933688" y="5724144"/>
            <a:ext cx="2724912" cy="384048"/>
          </a:xfrm>
          <a:prstGeom prst="roundRect">
            <a:avLst>
              <a:gd name="adj" fmla="val 14286"/>
            </a:avLst>
          </a:prstGeom>
          <a:solidFill>
            <a:srgbClr val="E6F3EC"/>
          </a:solidFill>
          <a:ln w="12700">
            <a:solidFill>
              <a:srgbClr val="BCDFC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33688" y="5724144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ใช้ไฟล์นี้ใน DEMO 1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ไฟล์ตัวอย่าง — ดาวน์โหลดก่อนเริ่ม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QR แต่ละอัน → ดาวน์โหลดไฟล์ → แนบให้ AI ตอน HOW TO ที่ระบุ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2249424" cy="510235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7780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78992"/>
            <a:ext cx="2249424" cy="7315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225296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22529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" y="2066544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Sample_Thai_Export_Data.xlsx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9806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ข้อมูลส่งออก 72 shipments — อัปโหลดให้ AI วิเคราะห์ตลาด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4984" y="3712464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785616"/>
            <a:ext cx="1170432" cy="11704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" y="5084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สแกนดาวน์โหลด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" y="534009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(อัปเดต QR เมื่อมี link จริง)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889504" y="1078992"/>
            <a:ext cx="2249424" cy="510235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7780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89504" y="1078992"/>
            <a:ext cx="2249424" cy="7315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18" name="Shape 15"/>
          <p:cNvSpPr/>
          <p:nvPr/>
        </p:nvSpPr>
        <p:spPr>
          <a:xfrm>
            <a:off x="3090672" y="1225296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19" name="Text 16"/>
          <p:cNvSpPr/>
          <p:nvPr/>
        </p:nvSpPr>
        <p:spPr>
          <a:xfrm>
            <a:off x="3090672" y="122529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/ 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889504" y="1645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017520" y="2066544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1_Commercial_Invoice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INV-2026-014.pdf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980944" y="279806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ข้าวหอมมะลิ → ให้ AI สร้าง Packing List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55848" y="3712464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785616"/>
            <a:ext cx="1170432" cy="11704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944368" y="5084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สแกนดาวน์โหลด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944368" y="534009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(อัปเดต QR เมื่อมี link จริง)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230368" y="1078992"/>
            <a:ext cx="2249424" cy="510235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7780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230368" y="1078992"/>
            <a:ext cx="2249424" cy="73152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29" name="Shape 25"/>
          <p:cNvSpPr/>
          <p:nvPr/>
        </p:nvSpPr>
        <p:spPr>
          <a:xfrm>
            <a:off x="5431536" y="1225296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0" name="Text 26"/>
          <p:cNvSpPr/>
          <p:nvPr/>
        </p:nvSpPr>
        <p:spPr>
          <a:xfrm>
            <a:off x="5431536" y="122529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230368" y="1645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5358384" y="2066544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2_Packing_List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PL-2026-014.pdf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321808" y="279806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 (1,180 ถุง ≠ Invoice) — planted mismatch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696712" y="3712464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3785616"/>
            <a:ext cx="1170432" cy="11704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285232" y="5084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สแกนดาวน์โหลด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285232" y="534009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(อัปเดต QR เมื่อมี link จริง)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7571232" y="1078992"/>
            <a:ext cx="2249424" cy="510235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7780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7571232" y="1078992"/>
            <a:ext cx="2249424" cy="73152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40" name="Shape 35"/>
          <p:cNvSpPr/>
          <p:nvPr/>
        </p:nvSpPr>
        <p:spPr>
          <a:xfrm>
            <a:off x="7772400" y="1225296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41" name="Text 36"/>
          <p:cNvSpPr/>
          <p:nvPr/>
        </p:nvSpPr>
        <p:spPr>
          <a:xfrm>
            <a:off x="7772400" y="122529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571232" y="1645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43" name="Text 38"/>
          <p:cNvSpPr/>
          <p:nvPr/>
        </p:nvSpPr>
        <p:spPr>
          <a:xfrm>
            <a:off x="7699248" y="2066544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3_Sales_Contract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SC-2026-007.pdf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7662672" y="279806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(CIF ≠ FOB) — planted mismatch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8037576" y="3712464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785616"/>
            <a:ext cx="1170432" cy="117043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626096" y="5084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สแกนดาวน์โหลด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7626096" y="534009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(อัปเดต QR เมื่อมี link จริง)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9912096" y="1078992"/>
            <a:ext cx="2249424" cy="5102352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9912096" y="1078992"/>
            <a:ext cx="2249424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1" name="Shape 45"/>
          <p:cNvSpPr/>
          <p:nvPr/>
        </p:nvSpPr>
        <p:spPr>
          <a:xfrm>
            <a:off x="10113264" y="1225296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2" name="Text 46"/>
          <p:cNvSpPr/>
          <p:nvPr/>
        </p:nvSpPr>
        <p:spPr>
          <a:xfrm>
            <a:off x="10113264" y="122529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9912096" y="1645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</a:t>
            </a:r>
            <a:endParaRPr lang="en-US" sz="2200" dirty="0"/>
          </a:p>
        </p:txBody>
      </p:sp>
      <p:sp>
        <p:nvSpPr>
          <p:cNvPr id="54" name="Text 48"/>
          <p:cNvSpPr/>
          <p:nvPr/>
        </p:nvSpPr>
        <p:spPr>
          <a:xfrm>
            <a:off x="10040112" y="2066544"/>
            <a:ext cx="1993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4_Invoice_INV-TX-2026-051.pdf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10003536" y="2798064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เสื้อผ้า (สะอาด) — ให้ AI อ่านและสกัดข้อมูล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10378440" y="3712464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3785616"/>
            <a:ext cx="1170432" cy="1170432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9966960" y="5084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สแกนดาวน์โหลด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9966960" y="534009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(อัปเดต QR เมื่อมี link จริง)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 · หาตลาด-ผู้ซื้อ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ทำตามสด — ผลลัพธ์จริงจาก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แนบไฟล์ → พิมพ์ Keyword → นี่คือสิ่งที่ได้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4114800" cy="5596128"/>
          </a:xfrm>
          <a:prstGeom prst="roundRect">
            <a:avLst>
              <a:gd name="adj" fmla="val 1778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ไฟล์ที่แนบ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17904"/>
            <a:ext cx="37124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Sample_Thai_Export_Data.xlsx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Keyword (คัดลอกได้)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14016"/>
            <a:ext cx="371246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87168"/>
            <a:ext cx="35112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"จากไฟล์ข้อมูลส่งออกนี้ ช่วยวิเคราะห์ Top 5 ตลาดส่งออกของฉันปี 2026 — ดูจากดีมานด์ การเติบโต ภาษี และคู่แข่ง เรียงลำดับพร้อมเหตุผล"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791456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491947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4992624"/>
            <a:ext cx="1078992" cy="10789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181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ทำตามบนมือถือ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6382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6803136" cy="5596128"/>
          </a:xfrm>
          <a:prstGeom prst="roundRect">
            <a:avLst>
              <a:gd name="adj" fmla="val 130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853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28016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ผลลัพธ์จริงจาก AI (Claude / ChatGPT)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120640" y="1828800"/>
            <a:ext cx="6345936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วิเคราะห์ Top 5 ตลาด จากข้อมูลส่งออก 72 shipments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จีน — ดีมานด์สูงสุด $620K, โต 3%/เดือน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RCEP Form E ภาษี 0% ผู้ซื้อหลายราย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ญี่ปุ่น — มั่นคง $605K, มาตรฐานสูง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ชิ้นส่วนยานยนต์ + อาหารพรีเมียม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สหรัฐฯ — $483K แต่ tariff ~19% กระทบมาก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พิจารณา redirect สินค้ายาง → ตลาดอื่น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เวียดนาม — $292K โตต่อเนื่อง Hub ASEAN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ขนส่งถูก เชื่อมต่อ EU ได้ดี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อินเดีย — $207K แต่โตเร็วสุด 5%/เดือน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ดาวรุ่ง ตลาด 1.4B คน คู่แข่งน้อย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แนะนำ: เน้น จีน+ญี่ปุ่น ระยะสั้น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โตระยะยาว: อินเดีย+เวียดนาม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 · หาตลาด-ผู้ซื้อ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1 — หาตลาดที่มีโอกาสสูงสุด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0E74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ฉันส่งออก [สินค้า] จากไทย ช่วยวิเคราะห์ Top 5 ตลาดส่งออกที่มีโอกาสปี 2026 — ดูจากขนาดดีมานด์, การเติบโต, กำแพงภาษี, คู่แข่ง แล้วเรียงลำดับพร้อมเหตุผล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ตลาดส่งออก ข้าวหอมมะลิ ปี 2026: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อินเดีย — โต 5%/เดือน ดีมานด์ 22M ตัน/ปี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RCEP ภาษี 0% · คู่แข่งน้อย · ออเดอร์ใหญ่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จีน — โต 3% RCEP Form E ภาษี 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ผู้ซื้อมากราย · Jasmine Premium +20%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เวียดนาม — ขนส่งถูก ASEAN 0% Hub EU ได้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เยอรมนี — Organic premium +30–40%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ตลาดมั่นคง · EU cert เพิ่มมูลค่ามาก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UAE — Hub ตะวันออกกลาง ภาษี 5%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กระจายต่อ MENA 22 ประเทศ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สหรัฐฯ: tariff ~19% → ลดลำดับ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แนะ: เน้น อินเดีย+จีน ระยะสั้น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ใช้ข้อมูลนี้เป็นจุดตั้งต้น แล้วเจาะลึกตลาดที่เลือกในขั้นต่อไป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 · หาตลาด-ผู้ซื้อ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2 — หาผู้ซื้อ/ผู้นำเข้าตัวจริง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0E74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ในตลาด [ประเทศที่เลือก] — ใครคือผู้นำเข้า/ผู้จัดจำหน่าย [สินค้า] รายใหญ่? ช่วยหารายชื่อบริษัท ประเภทธุรกิจ และช่องทางติดต่อที่หาได้ พร้อมแนะนำว่าควรเข้าหาอย่างไร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ผู้นำเข้า/จัดจำหน่ายข้าวไทย — อินเดีย: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ITC Limited (Mumbai)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Top 5 food importer · นำเข้า 5,000 MT/ปี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ติดต่อ: agri-exports@itcltd.com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Amira Nature Foods Ltd. (Delhi)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Specialty/Organic rice · Supermarket chains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KRBL Limited (Noida)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India's largest rice company · re-export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วิธีเข้าหา: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Email + brochure ภาษาอังกฤษ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แนบ phytosanitary + organic cert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เสนอ sample 3–5 kg ฟรีก่อนสั่ง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ติดต่อผ่าน DITP สำนักงาน India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ใช้คู่กับ ImportGenius/Volza (ข้อมูลใบขนจริง) และ Thaitrade.com (DITP) เพื่อข้อมูลแม่นขึ้น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1 · หาตลาด-ผู้ซื้อ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3 — ร่างอีเมลเข้าหาผู้ซื้อ (หลายภาษา)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0E74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ร่างอีเมลแนะนำสินค้าและบริษัทเรา ถึงผู้นำเข้ารายนี้ — เป็นภาษา [อังกฤษ/เยอรมัน/จีน] โทนมืออาชีพ กระชับ เน้นจุดเด่นเรื่องคุณภาพ ราคา และการรับรองมาตรฐาน แล้วเตรียมคำตอบสำหรับคำถามที่เขาน่าจะถาม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Premium Thai Hom Mali Rice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Organic Certified | New Supplier Inquiry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Mr. Sharma,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Siam Rice Co., Ltd., a certified organic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of Grade A Hom Mali Rice (GI Cert. 2025).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Offer: Min. 20 MT FOB Bangkok · USD 1.45/kg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ACT · Moisture ≤14.5% · Broken ≤5%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200 MT/month · Lead time: 21 days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samples available on request.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ราคาสูงกว่า Vietnam? → GI cert + Organic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MOQ? → 20 MT (1 × 20' GP)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Payment? → L/C at sight or T/T 30 days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ตรวจข้อมูลบริษัท/ติดต่อก่อนส่งจริง · ใช้ตาม PDPA/GDPR · เคารพกฎ spam แต่ละประเทศ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288" y="137160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044288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วิเคราะห์ภาษี Trump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สำหรับสินค้าของคุณ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286000" y="4297680"/>
            <a:ext cx="7616952" cy="1371600"/>
          </a:xfrm>
          <a:prstGeom prst="roundRect">
            <a:avLst>
              <a:gd name="adj" fmla="val 6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443984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เตรียมตัว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4809744"/>
            <a:ext cx="6976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Claude.ai หรือ ChatGPT · เปิดโหมด Web Search · เตรียมชื่อสินค้าจริง 1 รายการ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ขั้นตอน · พิมพ์ตามทีละขั้น · เห็นผลสดต่อหน้า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 · ภาษี TRUMP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ทำตามสด — ผลลัพธ์จริงจาก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แนบไฟล์ → พิมพ์ Keyword → นี่คือสิ่งที่ได้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4114800" cy="5596128"/>
          </a:xfrm>
          <a:prstGeom prst="roundRect">
            <a:avLst>
              <a:gd name="adj" fmla="val 1778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ไฟล์ที่แนบ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17904"/>
            <a:ext cx="37124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ไม่ต้องแนบไฟล์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Keyword (คัดลอกได้)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14016"/>
            <a:ext cx="371246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87168"/>
            <a:ext cx="35112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"สินค้า ข้าวหอมมะลิ 100% ส่งออกจากไทยไปสหรัฐ — HS Code คืออะไร และตอนนี้เจอภาษีนำเข้าสหรัฐเท่าไหร่ แยก reciprocal และ Section 232 ให้ด้วย"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791456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491947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4992624"/>
            <a:ext cx="1078992" cy="10789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181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ทำตามบนมือถือ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6382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6803136" cy="5596128"/>
          </a:xfrm>
          <a:prstGeom prst="roundRect">
            <a:avLst>
              <a:gd name="adj" fmla="val 130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853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28016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ผลลัพธ์จริงจาก AI (Claude / ChatGPT)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120640" y="1828800"/>
            <a:ext cx="6345936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ข้าวหอมมะลิ HS 1006.30 → สหรัฐ (มิ.ย. 2026)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1006.30.90 (Long-grain rice, husked)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ภาษีนำเข้าสหรัฐ: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Reciprocal tariff    ~19%  (ไทย Tier 2)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MFN base rate       0.52¢/kg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Section 232         ไม่เกี่ยว (เหล็ก/อะลู)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cost (FOB $1.20/kg):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ภาษี ~19%     +$0.23/kg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ขนส่ง LA      +$0.08/kg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รวม              ≈ $1.51/kg  (+26%)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ตลาดทางเลือก: EU $0.04 CBAM, จีน RCEP 0%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แหล่ง: USTR.gov / CBP HTS 1006.30.90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 · ภาษี TRUMP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1 /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1 — หาพิกัด HS Code และอัตราภาษีปัจจุบัน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BE6EE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 [ชื่อสินค้าของคุณ เช่น แป้งมันสำปะหลัง] ส่งออกจากไทยไปสหรัฐ — HS Code คืออะไร และตอนนี้ (มิถุนายน 2026) เจอภาษีนำเข้าสหรัฐเท่าไหร่? แยกเป็น reciprocal และ Section 232 ให้ด้วย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18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1006.30.90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(Long-grain rice, milled, Thai Hom Mali)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ภาษีนำเข้าสหรัฐ (มิ.ย. 2026):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tariff:    ~19.0%  (Thailand Tier 2)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MFN base rate:          0.52¢/kg (~0.04%)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232:           N/A (ข้าวไม่เกี่ยว)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อัตราจริง:             ~19.5%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 FOB $1.45/kg: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ภาษี ~19.5%:   +$0.28/kg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ขนส่ง LA:       +$0.08/kg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LA:        ≈ $1.81/kg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แหล่ง: USTR.gov · CBP HTS Ch.10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ตรวจกับ CBP ก่อนใช้จริงเสมอ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 AI ไม่แน่ใจพิกัด ให้บอกรายละเอียดสินค้าเพิ่ม (วัสดุ การใช้งาน) แล้วถามใหม่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 · ภาษี TRUMP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2 /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2 — คำนวณ Landed Cost เทียบหลายตลาด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BE6EE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ถ้าราคาสินค้า FOB อยู่ที่ [เช่น $500/ตัน] ช่วยคำนวณ landed cost เมื่อส่งไป สหรัฐ vs EU vs จีน — รวมภาษีนำเข้า, ค่าขนส่งโดยประมาณ, และกฎพิเศษ (เช่น CBAM/EUDR ถ้าเกี่ยว) แล้วสรุปว่าตลาดไหนคุ้มสุด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18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Cost เปรียบเทียบ — FOB $1.45/kg: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ตลาด        ภาษี  Freight  Landed   vs FOB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สหรัฐฯ      +19%  +$0.08   $1.81    +25%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ฮัมบูร์ก  +12%  +$0.06   $1.69    +17%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จีน RCEP      0%  +$0.03   $1.48    + 2%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อินเดีย       0%  +$0.02   $1.47    + 1%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เวียดนาม      0%  +$0.02   $1.47    + 1%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กฎพิเศษ EU: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CBAM: ไม่เกี่ยวข้าว ✅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Organic cert: premium +30%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สรุป: จีน+อินเดียคุ้มสุด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คุ้มถ้ามี Organic cert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สหรัฐฯ: ชะลอ รอกฎเปลี่ยน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ตัวเลขค่าขนส่งเป็นการประมาณ — ใช้เทียบทิศทาง ไม่ใช่ราคาจริงเป๊ะ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 · ภาษี TRUMP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3 /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3 — หากลยุทธ์ลดภาษี (FTA, ทางเลือก)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BE6EE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มีวิธีลดภาษีถูกกฎหมายไหมสำหรับสินค้านี้? เช็กสิทธิ FTA (RCEP, ASEAN-China Form E, ไทย-EFTA), การจัดพิกัดใหม่, หรือตลาดทางเลือกที่ภาษีต่ำกว่า แล้วเรียงลำดับตามผลกระทบ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18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กลยุทธ์ FTA ลดภาษีถูกกฎหมาย: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RCEP (ไทย–จีน)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Form E · ภาษี 0% · RVC ≥40%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ข้าวไทยผลิต 100% ในไทย → ผ่านแน่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ASEAN–India (AIFTA)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Form D · ภาษี 0–5% · RVC ≥35%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ยื่นขอที่ กรมการค้าต่างประเทศ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ASEAN–Korea (AKFTA)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Form AK · ภาษี 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ตลาดทางเลือกแทนสหรัฐฯ: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อินเดีย (AIFTA 0% + โต 5%/เดือน)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เวียดนาม (ASEAN 0% + Hub EU)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UAE (5% ไม่มีข้อกำหนดพิเศษ)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Transshipment &gt;40% = สวมสิทธิ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อธิบายว่าสินค้าเราเข้าเกณฑ์ FTA ไหน — แล้วเอาไปคุยกับชิปปิ้ง/DFT ต่อ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2 · ภาษี TRUMP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4 /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4 — สรุปเป็นเอกสารพร้อมใช้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BE6EE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18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18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สรุปทั้งหมดเป็นตารางเดียว: สินค้า, HS Code, ภาษีแต่ละตลาด, landed cost, กลยุทธ์แนะนำ — แล้วร่างอีเมลภาษาอังกฤษถึงผู้ซื้อต่างชาติ อธิบายราคาและความได้เปรียบของเรา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18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18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สรุปตาราง — ข้าวหอมมะลิ HS 1006.30: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ตลาด    ภาษี  Landed  FTA      แนะนำ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สหรัฐฯ  19%  $1.81   ไม่มี    ชะลอ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    12%  $1.69   กำลังเจรจา +Organic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จีน      0%  $1.48   RCEP     ✅ เน้น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อินเดีย  0%  $1.47   AIFTA    ✅ เน้น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 0%  $1.47   ASEAN    ✅ รอง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 ถึงผู้ซื้อ EU: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'Our CIF Hamburg is $1.69/kg — 6% lower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Vietnamese origin after tariff adj.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ACT certified, GI guaranteed.'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3 นาที vs ค้นเอง: 4+ ชั่วโมง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ตรวจตัวเลขภาษีกับ CBP/USTR ก่อนใช้จริงเสมอ — กฎเปลี่ยนเร็ว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288" y="137160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044288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สร้างเอกสารส่งออก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จากเอกสารที่มีอยู่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286000" y="4297680"/>
            <a:ext cx="7616952" cy="1371600"/>
          </a:xfrm>
          <a:prstGeom prst="roundRect">
            <a:avLst>
              <a:gd name="adj" fmla="val 6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443984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เตรียมตัว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4809744"/>
            <a:ext cx="6976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มีเอกสารตั้งต้น 1 ใบ (เช่น Invoice หรือ Contract) · บอก AI ว่าต้องการสร้างเอกสารอะไรต่อ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ขั้นตอน · จากเอกสารเดียว สร้างเอกสารทั้งชุดให้สอดคล้องกัน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· สร้างเอกสาร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ทำตามสด — ผลลัพธ์จริงจาก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แนบไฟล์ → พิมพ์ Keyword → นี่คือสิ่งที่ได้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4114800" cy="5596128"/>
          </a:xfrm>
          <a:prstGeom prst="roundRect">
            <a:avLst>
              <a:gd name="adj" fmla="val 1778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ไฟล์ที่แนบ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17904"/>
            <a:ext cx="37124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1_Commercial_Invoice_INV-2026-014.pdf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Keyword (คัดลอกได้)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14016"/>
            <a:ext cx="371246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87168"/>
            <a:ext cx="35112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"ฉันมี Commercial Invoice นี้อยู่แล้ว ช่วยสร้าง Packing List ที่สอดคล้อง 100% (จำนวน/น้ำหนัก/มาร์กกิ้งตรงกับ Invoice) ในฟอร์แมตมาตรฐานสากล"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791456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491947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4992624"/>
            <a:ext cx="1078992" cy="10789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181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ทำตามบนมือถือ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6382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6803136" cy="5596128"/>
          </a:xfrm>
          <a:prstGeom prst="roundRect">
            <a:avLst>
              <a:gd name="adj" fmla="val 130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853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28016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ผลลัพธ์จริงจาก AI (Claude / ChatGPT)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120640" y="1828800"/>
            <a:ext cx="6345936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 — สร้างสอดคล้อง Invoice 100%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Shipper:   Siam Rice Co., Ltd., Bangkok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Consignee: EuroFood GmbH, Hamburg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      PL-2026-014  (อ้างอิง INV-2026-014)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สินค้า:    Thai Hom Mali Rice 100%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 1006.30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จำนวน:    1,200 ถุง × 25 kg/ถุง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Wt:   30,000 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Wt: 30,600 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Packages: 24 pallets (50 ถุง/pallet)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   EFG / HAMBURG / 2026 / 1-1200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ตรงกับ Invoice ทุกฟิลด์ — พร้อมยื่น L/C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สร้างอัตโนมัติ ลดความผิดพลาดจากคีย์มือ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จากเอกสารเดียว → สร้างได้ทั้งชุด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ใช้ข้อมูลที่มีอยู่ ร่างเอกสารถัดไปให้สอดคล้องกันอัตโนมัติ — กรอกเลขที่เดียว ใช้ได้ทั้งชุด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3619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88720" y="173736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Contract / PO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49424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1671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Proforma Invoice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5234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267004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25526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992" y="317296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 (โครง)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343400" y="13716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1591056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83480" y="153619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983480" y="173736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2249424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3752" y="21671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2752344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73752" y="267004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ใบขนสินค้า (ร่าง)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3255264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873752" y="317296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เอกสารยื่น L/C</a:t>
            </a:r>
            <a:endParaRPr lang="en-US" sz="1250" dirty="0"/>
          </a:p>
        </p:txBody>
      </p:sp>
      <p:sp>
        <p:nvSpPr>
          <p:cNvPr id="24" name="Shape 14"/>
          <p:cNvSpPr/>
          <p:nvPr/>
        </p:nvSpPr>
        <p:spPr>
          <a:xfrm>
            <a:off x="8138160" y="13716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616" y="1591056"/>
            <a:ext cx="329184" cy="32918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778240" y="1536192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</a:t>
            </a:r>
            <a:endParaRPr lang="en-US" sz="1050" dirty="0"/>
          </a:p>
        </p:txBody>
      </p:sp>
      <p:sp>
        <p:nvSpPr>
          <p:cNvPr id="27" name="Text 16"/>
          <p:cNvSpPr/>
          <p:nvPr/>
        </p:nvSpPr>
        <p:spPr>
          <a:xfrm>
            <a:off x="8778240" y="173736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Proforma / Quotation</a:t>
            </a:r>
            <a:endParaRPr lang="en-US" sz="13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4" y="2249424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668512" y="216712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Contract (ร่าง)</a:t>
            </a:r>
            <a:endParaRPr lang="en-US" sz="12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904" y="2752344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668512" y="267004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Instruction</a:t>
            </a:r>
            <a:endParaRPr lang="en-US" sz="12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5904" y="3255264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668512" y="317296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คำขอ C/O</a:t>
            </a:r>
            <a:endParaRPr lang="en-US" sz="1250" dirty="0"/>
          </a:p>
        </p:txBody>
      </p:sp>
      <p:sp>
        <p:nvSpPr>
          <p:cNvPr id="34" name="Text 20"/>
          <p:cNvSpPr/>
          <p:nvPr/>
        </p:nvSpPr>
        <p:spPr>
          <a:xfrm>
            <a:off x="548640" y="40416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ปรับตามอุตสาหกรรม — เอกสาร/ใบรับรองที่ต้องเพิ่ม</a:t>
            </a:r>
            <a:endParaRPr lang="en-US" sz="1400" dirty="0"/>
          </a:p>
        </p:txBody>
      </p:sp>
      <p:sp>
        <p:nvSpPr>
          <p:cNvPr id="35" name="Shape 21"/>
          <p:cNvSpPr/>
          <p:nvPr/>
        </p:nvSpPr>
        <p:spPr>
          <a:xfrm>
            <a:off x="548640" y="448056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7068" y="4663440"/>
            <a:ext cx="402336" cy="402336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40080" y="5120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อาหาร/เกษตร</a:t>
            </a:r>
            <a:endParaRPr lang="en-US" sz="1300" dirty="0"/>
          </a:p>
        </p:txBody>
      </p:sp>
      <p:sp>
        <p:nvSpPr>
          <p:cNvPr id="38" name="Text 23"/>
          <p:cNvSpPr/>
          <p:nvPr/>
        </p:nvSpPr>
        <p:spPr>
          <a:xfrm>
            <a:off x="640080" y="5394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Phytosanitary · Health Cert</a:t>
            </a:r>
            <a:endParaRPr lang="en-US" sz="1050" dirty="0"/>
          </a:p>
        </p:txBody>
      </p:sp>
      <p:sp>
        <p:nvSpPr>
          <p:cNvPr id="39" name="Shape 24"/>
          <p:cNvSpPr/>
          <p:nvPr/>
        </p:nvSpPr>
        <p:spPr>
          <a:xfrm>
            <a:off x="3502152" y="448056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0580" y="4663440"/>
            <a:ext cx="402336" cy="402336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3593592" y="5120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สิ่งทอ/เสื้อผ้า</a:t>
            </a:r>
            <a:endParaRPr lang="en-US" sz="1300" dirty="0"/>
          </a:p>
        </p:txBody>
      </p:sp>
      <p:sp>
        <p:nvSpPr>
          <p:cNvPr id="42" name="Text 26"/>
          <p:cNvSpPr/>
          <p:nvPr/>
        </p:nvSpPr>
        <p:spPr>
          <a:xfrm>
            <a:off x="3593592" y="5394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C/O · Fiber content</a:t>
            </a:r>
            <a:endParaRPr lang="en-US" sz="1050" dirty="0"/>
          </a:p>
        </p:txBody>
      </p:sp>
      <p:sp>
        <p:nvSpPr>
          <p:cNvPr id="43" name="Shape 27"/>
          <p:cNvSpPr/>
          <p:nvPr/>
        </p:nvSpPr>
        <p:spPr>
          <a:xfrm>
            <a:off x="6455664" y="448056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4092" y="4663440"/>
            <a:ext cx="402336" cy="402336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547104" y="5120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อิเล็กทรอนิกส์</a:t>
            </a:r>
            <a:endParaRPr lang="en-US" sz="1300" dirty="0"/>
          </a:p>
        </p:txBody>
      </p:sp>
      <p:sp>
        <p:nvSpPr>
          <p:cNvPr id="46" name="Text 29"/>
          <p:cNvSpPr/>
          <p:nvPr/>
        </p:nvSpPr>
        <p:spPr>
          <a:xfrm>
            <a:off x="6547104" y="5394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/ FCC · Datasheet</a:t>
            </a:r>
            <a:endParaRPr lang="en-US" sz="1050" dirty="0"/>
          </a:p>
        </p:txBody>
      </p:sp>
      <p:sp>
        <p:nvSpPr>
          <p:cNvPr id="47" name="Shape 30"/>
          <p:cNvSpPr/>
          <p:nvPr/>
        </p:nvSpPr>
        <p:spPr>
          <a:xfrm>
            <a:off x="9409176" y="4480560"/>
            <a:ext cx="2679192" cy="1325880"/>
          </a:xfrm>
          <a:prstGeom prst="roundRect">
            <a:avLst>
              <a:gd name="adj" fmla="val 551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7604" y="4663440"/>
            <a:ext cx="402336" cy="402336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9500616" y="5120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เหล็ก/โลหะ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9500616" y="5394960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 Cert · CBAM</a:t>
            </a:r>
            <a:endParaRPr lang="en-US" sz="105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ใบรับรองบางอย่าง (Phytosanitary, Mill Cert, C/O) ออกได้โดยหน่วยงานรัฐ/แล็บที่รับรองเท่านั้น — AI ร่างคำขอให้ได้ แต่ยื่นเอง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· สร้างเอกสาร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1 — สร้างเอกสารถัดไปจากใบเดียว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AE7DB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41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ฉันมี Commercial Invoice นี้อยู่แล้ว [อัปโหลด] — ช่วยสร้าง Packing List ที่สอดคล้อง 100% (จำนวน/น้ำหนัก/มาร์กกิ้งตรงกับ Invoice) ในฟอร์แมตมาตรฐานสากล พร้อมช่อง gross/net weight, จำนวนหีบห่อ และ shipping marks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41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 — สร้างจาก Invoice อัตโนมัติ: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Shipper:   Siam Rice Co., Ltd., Bangkok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Consignee: EuroFood GmbH, Hamburg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       PL-2026-014 (อ้าง INV-2026-014)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สินค้า:    Thai Hom Mali Rice 100%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 1006.30 | 1,200 ถุง × 25 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Wt:   30,000 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Wt: 30,600 kg (+2% บรรจุภัณฑ์)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Packages: 24 pallets (50 ถุง/pallet)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   EFG/HAMBURG/2026/No.1-1200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ตรงกับ Invoice ทุกฟิลด์อัตโนมัติ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ลดงานคีย์มือ ลดโอกาสผิดพลาด 100%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แก้ตัวเลขที่เดียว ปรับทุกเอกสาร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เพราะสร้างจากต้นทางเดียวกัน เอกสารที่ได้จึง 'สอดคล้องโดยกำเนิด' — ตรงข้ามกับ DEMO 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· สร้างเอกสาร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2 — แปลงข้ามประเภท ตามอุตสาหกรรม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AE7DB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41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ฉันอยู่ในอุตสาหกรรม [อาหาร/สิ่งทอ/เหล็ก ฯลฯ] จากเอกสารตั้งต้นนี้ ช่วยร่างเอกสารส่งออกที่อุตสาหกรรมนี้ต้องใช้: Proforma Invoice, คำขอ Certificate of Origin และระบุใบรับรองเฉพาะทาง (Phytosanitary, Mill Test, CE) พร้อมบอกว่าต้องขอจากหน่วยงานใด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41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ชุดเอกสารตามอุตสาหกรรม: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อาหาร/เกษตร → EU: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 · PL · C/O (Form A / EUR.1)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Phytosanitary (กรมวิชาการเกษตร)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Health Cert (อย.) · Organic cert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สิ่งทอ → USA: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 · PL · C/O Form A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Fiber Content Certificate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เหล็ก/โลหะ → EU: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Invoice · PL · Mill Test Certificate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CBAM Declaration (บังคับ 2026)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อิเล็กทรอนิกส์ → Global: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 Mark (EU) · FCC (USA) · CCC (CN)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หน่วยงานออกใบรับรอง: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Phyto → กรมวิชาการเกษตร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C/O → กรมการค้าต่างประเทศ (DFT)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บอกอุตสาหกรรมและตลาดปลายทางให้ชัด AI จะเลือกชุดเอกสารได้ตรงกว่า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· สร้างเอกสาร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3 — ปรับตามกฎปลายทาง + ตรวจย้อน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AE7DB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C241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ปรับร่างเอกสารทั้งหมดให้ตรงข้อกำหนดปลายทาง [ประเทศ] (ภาษา, สกุลเงิน, ฟิลด์บังคับ เช่น EORI ของ EU หรือ GACC ของจีน) แล้วตรวจย้อนว่าทุกเอกสารสอดคล้องกันก่อนใช้จริง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C241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ปรับเอกสารตามกฎ EU (เยอรมนี):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ฟิลด์บังคับที่ต้องเพิ่มใน Invoice: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EORI ผู้รับ: DE4567890123 (บรรทัด 5)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VAT: DE245678901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Net/Gross weight per line item (PL)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Country of Origin: Thailand (ทุกเอกสาร)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 Consistency รอบสุดท้าย: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จำนวน: 1,200 ถุง ตรงทุกเอกสาร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มูลค่า: USD 36,000 ตรงกัน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Incoterms: FOB Bangkok ตรงกัน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HS Code: 1006.30 ตรงกัน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ชุดเอกสารพร้อมยื่น: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✅ · PL ✅ · C/O ✅ · Phyto ✅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ไม่พบ discrepancy · ส่งได้เลย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ช่วยร่าง — เอกสารทางการต้องคนตรวจ ลงนาม และยื่นเองเสมอ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288" y="137160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44288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อ่านเอกสารส่งออก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ตรวจ Compliance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286000" y="4297680"/>
            <a:ext cx="7616952" cy="1371600"/>
          </a:xfrm>
          <a:prstGeom prst="roundRect">
            <a:avLst>
              <a:gd name="adj" fmla="val 6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443984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เตรียมตัว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4809744"/>
            <a:ext cx="6976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เตรียมรูป/ไฟล์ Invoice หรือ Packing List ตัวอย่าง (ลบข้อมูลลับออก) · อัปโหลดให้ AI อ่าน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ขั้นตอน · เห็น AI อ่านเอกสารและจับ error สดๆ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 · เอกสารส่งออก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ทำตามสด — ผลลัพธ์จริงจาก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แนบไฟล์ → พิมพ์ Keyword → นี่คือสิ่งที่ได้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4114800" cy="5596128"/>
          </a:xfrm>
          <a:prstGeom prst="roundRect">
            <a:avLst>
              <a:gd name="adj" fmla="val 1778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ไฟล์ที่แนบ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17904"/>
            <a:ext cx="37124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4_DEMO4_Source_Commercial_Invoice_INV-TX-2026-051.pdf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Keyword (คัดลอกได้)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14016"/>
            <a:ext cx="371246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87168"/>
            <a:ext cx="35112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"อ่านเอกสารนี้ แล้วดึงข้อมูลสำคัญออกมาเป็นตาราง: ผู้ส่ง ผู้รับ สินค้า จำนวน น้ำหนัก มูลค่า Incoterms เงื่อนไขชำระเงิน"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791456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491947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4992624"/>
            <a:ext cx="1078992" cy="10789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181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ทำตามบนมือถือ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6382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6803136" cy="5596128"/>
          </a:xfrm>
          <a:prstGeom prst="roundRect">
            <a:avLst>
              <a:gd name="adj" fmla="val 130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853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28016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ผลลัพธ์จริงจาก AI (Claude / ChatGPT)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120640" y="1828800"/>
            <a:ext cx="6345936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ข้อมูลสกัดจาก Invoice INV-TX-2026-051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ผู้ส่ง:     Siam Garment Co., 123 Sukhumvit, BKK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ผู้รับ:     Fashion Import GmbH, Hamburg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สินค้า:    Cotton T-Shirt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 6109.10  (สิ่งทอฝ้าย)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จำนวน:    5,000 ชิ้น (200 g/ชิ้น)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Wt:   1,000 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Wt: 1,150 kg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มูลค่า:    USD 12,500  ($2.50/ชิ้น)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Incoterms: FOB Bangkok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ชำระเงิน: L/C at sight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อ่านครบ — พร้อมกรอกใบขนสินค้า / ERP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ไม่ต้องคีย์มือ ลด error 100%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 · เอกสารส่งออก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1 — ให้ AI อ่านและสกัดข้อมูลจากเอกสาร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0E9FB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[อัปโหลดรูป Invoice] + "อ่านเอกสารนี้ แล้วดึงข้อมูลสำคัญออกมาเป็นตาราง: ผู้ส่ง, ผู้รับ, รายการสินค้า, จำนวน, น้ำหนัก, มูลค่า, Incoterms, เงื่อนไขการชำระเงิน"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ข้อมูลสกัดจาก Invoice INV-TX-2026-051: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ผู้ส่ง:   Siam Garment Co., Bangkok 10110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ผู้รับ:   Fashion Import GmbH, Hamburg 20097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สินค้า:   Cotton T-Shirt (100% Cotton)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Code: 6109.10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จำนวน:   5,000 ชิ้น (200 g/ชิ้น)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Wt:  1,000 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Gross:   1,150 kg (+15% carton)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มูลค่า:  USD 12,500 ($2.50/ชิ้น)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Incoterms: FOB Bangkok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ชำระ:    L/C at sight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อ่านครบ 10 ฟิลด์ ใน 8 วินาที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พร้อมกรอกใบขนสินค้า/ERP ทันที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ไม่ต้องคีย์มือ ไม่มีผิดพลาด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อ่านได้ทั้งภาษาไทยและอังกฤษในเอกสารเดียวกัน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 · เอกสารส่งออก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2 — ตรวจความถูกต้องและจุดเสี่ยง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0E9FB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ตรวจเอกสารนี้ว่ามีข้อมูลขาดหรือผิดปกติไหม สำหรับการส่งออกไป [ประเทศปลายทาง] — เช็กว่าตรงเงื่อนไข L/C ไหม, มูลค่าและน้ำหนักสมเหตุสมผลไหม, มีอะไรที่อาจทำให้ติดด่านศุลกากร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พบ 2 จุดเสี่ยง: (1) ไม่ระบุ EORI ผู้รับ — EU บังคับตั้งแต่ 2024 (2) Invoice ไม่ระบุ HS full 10 digits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น้ำหนักสมเหตุสมผล: 5,000×200g = 1,000kg ✅ | Gross 1,150kg = +15% บรรจุภัณฑ์ ✅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L/C at sight ตาม UCP 600: ยื่น docs ภายใน 21 วันหลัง B/L date · ห้าม discrepancy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นี่คือจุดที่ AI เป็น "ด่านกันพลาด" — จับ error ก่อนเสียเงิน/เสียเวลา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 · เอกสารส่งออก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3 — ตรวจกฎปลายทาง + ร่างเอกสารถัดไป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F0E9FB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สำหรับส่งสินค้านี้ไป [ประเทศ] — ต้องมีใบรับรอง/เอกสารอะไรเพิ่ม (เช่น C/O, phytosanitary, CBAM, GACC)? แล้วช่วยร่าง checklist เอกสารทั้งหมดที่ต้องเตรียม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เอกสารที่ต้องมีเพิ่ม — ส่ง Hamburg: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C/O Form A (GSP) หรือ EUR.1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Thai Chamber of Commerce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ลดภาษี EU จาก 12% → 0%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EORI ผู้รับ (DE…) — ยังขาด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ขอจาก Fashion Import GmbH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Packing List (ยังไม่มี → สร้างได้)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B/L (ออกโดย Shipping Line)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ถ้าเป็นเสื้อผ้าเด็ก: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Oeko-Tex Standard 100 บังคับ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 14682 (cord safety) บังคับ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✅ · PL ⬜ · B/L ⬜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C/O ⬜ · EORI ⚠️ · HS 10-digit ⚠️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ร่าง PL ให้จาก Invoice นี้เลย?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ช่วยร่างและคัดกรอง — แต่เอกสารทางการต้องคนตรวจและยื่นเอง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288" y="137160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/>
          <p:nvPr/>
        </p:nvSpPr>
        <p:spPr>
          <a:xfrm>
            <a:off x="5044288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ตรวจความสอดคล้อง</a:t>
            </a:r>
            <a:endParaRPr lang="en-US" sz="39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เอกสารส่งออกทั้งชุด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286000" y="4297680"/>
            <a:ext cx="7616952" cy="1371600"/>
          </a:xfrm>
          <a:prstGeom prst="roundRect">
            <a:avLst>
              <a:gd name="adj" fmla="val 6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4443984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เตรียมตัว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4809744"/>
            <a:ext cx="6976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เตรียมไฟล์ Invoice + Packing List + Contract ของชิปเมนต์เดียวกัน (ลบข้อมูลลับออก) · อัปโหลดทั้งชุด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ขั้นตอน · จับจุดไม่ตรงข้ามเอกสาร + เทียบกฎสากล ก่อนยื่นจริง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 · ตรวจความสอดคล้อง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ทำตามสด — ผลลัพธ์จริงจาก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E0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แนบไฟล์ → พิมพ์ Keyword → นี่คือสิ่งที่ได้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4114800" cy="5596128"/>
          </a:xfrm>
          <a:prstGeom prst="roundRect">
            <a:avLst>
              <a:gd name="adj" fmla="val 1778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ไฟล์ที่แนบ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517904"/>
            <a:ext cx="37124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+ Packing List + Contract (3 ไฟล์ PDF)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011680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  Keyword (คัดลอกได้)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14016"/>
            <a:ext cx="371246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87168"/>
            <a:ext cx="35112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"อ่าน Invoice + Packing List + Contract ทั้ง 3 ฉบับ สร้างตารางเทียบฟิลด์เคียงกัน ชี้จุดที่ไม่สอดคล้อง และตรวจกับ Incoterms 2020 / UCP 600"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4791456"/>
            <a:ext cx="3712464" cy="0"/>
          </a:xfrm>
          <a:prstGeom prst="line">
            <a:avLst/>
          </a:prstGeom>
          <a:noFill/>
          <a:ln w="6350">
            <a:solidFill>
              <a:srgbClr val="E0D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4919472"/>
            <a:ext cx="1225296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4992624"/>
            <a:ext cx="1078992" cy="10789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181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ทำตามบนมือถือ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6382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6803136" cy="5596128"/>
          </a:xfrm>
          <a:prstGeom prst="roundRect">
            <a:avLst>
              <a:gd name="adj" fmla="val 130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385316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28016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ผลลัพธ์จริงจาก AI (Claude / ChatGPT)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120640" y="1828800"/>
            <a:ext cx="6345936" cy="468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Report — ชุดข้าวหอมมะลิ INV-2026-014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พบ 3 จุดที่ไม่สอดคล้อง: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จำนวนถุงไม่ตรง  [HIGH RISK ‼]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Invoice: 1,200 ถุง  ≠  Packing List: 1,180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UCP 600 Art.18c: L/C ถูก reject ทันที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แก้ Packing List → 1,200 ถุง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Incoterms ขัดแย้ง  [HIGH RISK ‼]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Invoice: FOB Bangkok  ≠  Contract: CIF Hamburg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ต้องตกลงใหม่ ค่าขนส่ง+ประกันเป็นของใคร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Contract ขาดข้อมูล  [MEDIUM]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ไม่มี HS Code + ไม่มี Country of Origin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ต้องเพิ่มก่อนยื่น EU customs / CBAM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แก้ 3 จุด แล้วตรวจรอบสุดท้ายก่อนยื่น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ชุดเอกสารตัวอย่าง — ส่งออกข้าวหอมมะลิ 2 ออเดอร์ ไปเยอรมนี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 Rice Co., Ltd. (กรุงเทพฯ)  →  EuroFood GmbH (Hamburg) · ไฟล์ PDF เต็ม + QR ดาวน์โหลด อยู่ในภาคผนวกท้ายเล่ม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215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0934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5544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25296" y="1847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INV-2026-014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" y="2212848"/>
            <a:ext cx="3063240" cy="0"/>
          </a:xfrm>
          <a:prstGeom prst="line">
            <a:avLst/>
          </a:prstGeom>
          <a:noFill/>
          <a:ln w="12700">
            <a:solidFill>
              <a:srgbClr val="E0D3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23225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920240" y="23225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Hom Mali Rice 100%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6384" y="27797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920240" y="27797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1006.30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6384" y="32369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920240" y="32369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ถุง (× 25 kg)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" y="36941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920240" y="36941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36,000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6384" y="41513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920240" y="41513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Bangkok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43400" y="1371600"/>
            <a:ext cx="350215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60934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0056" y="15544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5020056" y="1847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PL-2026-014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62856" y="2212848"/>
            <a:ext cx="3063240" cy="0"/>
          </a:xfrm>
          <a:prstGeom prst="line">
            <a:avLst/>
          </a:prstGeom>
          <a:noFill/>
          <a:ln w="12700">
            <a:solidFill>
              <a:srgbClr val="E0D3B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81144" y="23225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สินค้า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715000" y="23225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 Mali Rice 100%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81144" y="27797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715000" y="27797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1,180 ถุง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581144" y="32369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น้ำหนักรวม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715000" y="32369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29,500 kg gross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581144" y="36941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พาเลท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715000" y="36941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pallets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81144" y="41513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มาร์กกิ้ง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5715000" y="41513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EFG / Hamburg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8138160" y="1371600"/>
            <a:ext cx="350215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609344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814816" y="155448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Contract</a:t>
            </a:r>
            <a:endParaRPr lang="en-US" sz="1450" dirty="0"/>
          </a:p>
        </p:txBody>
      </p:sp>
      <p:sp>
        <p:nvSpPr>
          <p:cNvPr id="37" name="Text 32"/>
          <p:cNvSpPr/>
          <p:nvPr/>
        </p:nvSpPr>
        <p:spPr>
          <a:xfrm>
            <a:off x="8814816" y="1847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SC-2026-007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357616" y="2212848"/>
            <a:ext cx="3063240" cy="0"/>
          </a:xfrm>
          <a:prstGeom prst="line">
            <a:avLst/>
          </a:prstGeom>
          <a:noFill/>
          <a:ln w="12700">
            <a:solidFill>
              <a:srgbClr val="E0D3B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75904" y="23225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ปริมาณ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9509760" y="23225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kg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8375904" y="27797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9509760" y="27797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 Hamburg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8375904" y="32369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ชำระเงิน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9509760" y="32369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L/C at sight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8375904" y="36941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9509760" y="36941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(ไม่ระบุ)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8375904" y="415137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150" dirty="0"/>
          </a:p>
        </p:txBody>
      </p:sp>
      <p:sp>
        <p:nvSpPr>
          <p:cNvPr id="48" name="Text 43"/>
          <p:cNvSpPr/>
          <p:nvPr/>
        </p:nvSpPr>
        <p:spPr>
          <a:xfrm>
            <a:off x="9509760" y="4151376"/>
            <a:ext cx="1929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(ไม่มี clause)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548640" y="498348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749808" y="51023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จุดที่ปลูกไว้ให้ AI จับ</a:t>
            </a:r>
            <a:endParaRPr lang="en-US" sz="1350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468112"/>
            <a:ext cx="182880" cy="18288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1024128" y="5394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จำนวนถุงไม่ตรง: Invoice 1,200 ถุง  vs  Packing List 1,180 ถุง</a:t>
            </a:r>
            <a:endParaRPr lang="en-US" sz="125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797296"/>
            <a:ext cx="182880" cy="1828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024128" y="5724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 ไม่ตรง: Invoice = FOB Bangkok  vs  Contract = CIF Hamburg</a:t>
            </a:r>
            <a:endParaRPr lang="en-US" sz="125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6126480"/>
            <a:ext cx="182880" cy="18288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1024128" y="60533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ขาดข้อมูล: Contract ไม่ระบุ HS Code และไม่มี Country-of-Origin clause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 · ตรวจความสอดคล้อง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1 — ให้ AI จับคู่ฟิลด์จากทั้ง 3 เอกสาร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3949A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[อัปโหลด Invoice + Packing List + Contract] + "อ่านทั้ง 3 ฉบับ แล้วสร้างตารางเทียบฟิลด์สำคัญเคียงกัน: ผู้ขาย/ผู้ซื้อ, สินค้า, HS Code, จำนวน, น้ำหนัก, มูลค่า, Incoterms, เงื่อนไขชำระเงิน, ปลายทาง"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3949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ตารางเทียบ 3 เอกสาร: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ฟิลด์         Invoice    Packing List  Contract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ผู้ส่ง-ผู้รับ   ✅ ตรง     ✅ ตรง        ✅ ตรง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จำนวนถุง       1,200      1,180 ❌       —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Weight     30,000 kg  29,500 kg     30,000 kg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Incoterms      FOB BKK    FOB BKK      CIF HAM ❌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มูลค่า         $36,000    —            $36,000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Code        1006.30    —           ขาด ❌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       Thailand   Thailand     ขาด ❌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พบ 3 จุดที่ขัดกัน: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จำนวนถุง · Incoterms · HS/Origin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สร้างตารางใน 15 วินาที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(คนทำมือ: 30+ นาที + เสี่ยงพลาด)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ยิ่งอัปโหลดครบทั้งชุด AI ยิ่งจับจุดขัดกันได้แม่น — รวม L/C ด้วยก็ได้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 · ตรวจความสอดคล้อง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2 — ตรวจ consistency + เทียบกฎสากล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3949A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เทียบ 3 เอกสารนี้ว่าจุดไหนไม่สอดคล้องกัน และตรวจกับกฎสากลที่เกี่ยวข้อง: Incoterms 2020 ตรงกันไหม, ปริมาณ/มูลค่าตรงเงื่อนไข L/C (UCP 600) ไหม, HS Code ถูกและตรงกันไหม, ส่งไป [เยอรมนี/EU] ต้องมีใบรับรองอะไรตามกฎปลายทาง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3949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Report — UCP 600 / Incoterms 2020: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จำนวนถุงไม่ตรง  [CRITICAL]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Invoice: 1,200 ถุง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Packing List: 1,180 ถุง (ขาด 20 ถุง)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UCP 600 Art.18c: &gt;5% variance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L/C ถูก REJECT ทันที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Incoterms ขัดแย้ง  [CRITICAL]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Invoice: FOB Bangkok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Contract: CIF Hamburg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ประกัน+freight เป็นของใคร?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ต้องตกลงใหม่ก่อนออก B/L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Contract ขาดข้อมูล  [MEDIUM]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ไม่มี HS Code → EU CBAM ยื่นไม่ได้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ไม่มี Country of Origin clause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รวม: 2 CRITICAL + 1 MEDIUM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 AI อ้างอิงข้อ UCP 600 / Incoterms ที่ใช้ตัดสิน เพื่อเอาไปยืนยันกับธนาคารได้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 · ตรวจความสอดคล้อง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0" y="73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ขั้นที่ 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ขั้น 3 — สรุป Discrepancy Report + ร่างแจ้งทีม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074920" cy="5559552"/>
          </a:xfrm>
          <a:prstGeom prst="roundRect">
            <a:avLst>
              <a:gd name="adj" fmla="val 1441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3949A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37617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28016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773936"/>
            <a:ext cx="47091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847088"/>
            <a:ext cx="44531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สรุปเป็นรายงาน discrepancy: แต่ละจุดที่ไม่ตรงอยู่เอกสารใด ควรแก้เป็นค่าใด และจัดลำดับความเร่งด่วน แล้วร่างข้อความแจ้งทีม/ชิปปิ้งให้แก้ก่อนยื่นกรมศุลฯ และก่อนเปิด L/C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608576"/>
            <a:ext cx="4709160" cy="0"/>
          </a:xfrm>
          <a:prstGeom prst="line">
            <a:avLst/>
          </a:prstGeom>
          <a:noFill/>
          <a:ln w="6350">
            <a:solidFill>
              <a:srgbClr val="3949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1156" y="4736592"/>
            <a:ext cx="1207008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4809744"/>
            <a:ext cx="1060704" cy="1060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99846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2362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(เปิดโหมด Web Search ก่อน)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715000" y="1115568"/>
            <a:ext cx="6281928" cy="5559552"/>
          </a:xfrm>
          <a:prstGeom prst="roundRect">
            <a:avLst>
              <a:gd name="adj" fmla="val 1316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31673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E7A5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41274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36792" y="131673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ตอบจริง — ตัวอย่างผลลัพธ์จริง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971032" y="1865376"/>
            <a:ext cx="586130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— แก้ก่อนยื่นกรมศุลฯ: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[CRITICAL] จำนวนถุง (ภายใน 24 ชม.)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Before: PL = 1,180 ถุง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After:  PL = 1,200 ถุง ✅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ผู้รับผิดชอบ: ชิปปิ้ง/warehouse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[CRITICAL] Incoterms (ตกลงกับลูกค้า)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เลือก FOB หรือ CIF ให้ชัดเจน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แก้ทั้ง Invoice + Contract ให้ตรง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ผู้รับผิดชอบ: Sales + Legal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[MEDIUM] เพิ่ม HS + Origin ใน Contract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HS Code: 1006.30 · Origin: Thailand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ผู้รับผิดชอบ: Legal (ก่อน counter-sign)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ร่างข้อความถึงทีม: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'แก้ PL และ Invoice ก่อนยื่น กรมศุลฯ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ภายใน 48 ชม. มิฉะนั้นต้องเลื่อน ETD'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1908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63093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ชี้จุดเสี่ยงได้ดี — แต่ตัวเลขสุดท้ายในเอกสารทางการต้องคนยืนยันและลงนาม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8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005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5747004" y="1005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961888" y="1005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532120" y="12207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949AB"/>
          </a:solidFill>
          <a:ln/>
        </p:spPr>
      </p:sp>
      <p:sp>
        <p:nvSpPr>
          <p:cNvPr id="6" name="Shape 4"/>
          <p:cNvSpPr/>
          <p:nvPr/>
        </p:nvSpPr>
        <p:spPr>
          <a:xfrm>
            <a:off x="5747004" y="12207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6176772" y="12207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185B"/>
          </a:solidFill>
          <a:ln/>
        </p:spPr>
      </p:sp>
      <p:sp>
        <p:nvSpPr>
          <p:cNvPr id="8" name="Shape 6"/>
          <p:cNvSpPr/>
          <p:nvPr/>
        </p:nvSpPr>
        <p:spPr>
          <a:xfrm>
            <a:off x="5747004" y="1435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961888" y="1435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/>
        </p:spPr>
      </p:sp>
      <p:sp>
        <p:nvSpPr>
          <p:cNvPr id="10" name="Shape 8"/>
          <p:cNvSpPr/>
          <p:nvPr/>
        </p:nvSpPr>
        <p:spPr>
          <a:xfrm>
            <a:off x="6176772" y="1435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949AB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4356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15688" y="2148840"/>
            <a:ext cx="2560320" cy="5120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815688" y="214884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เลขา AI สั่งงาน</a:t>
            </a:r>
            <a:endParaRPr lang="en-US" sz="48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ทั้งทีมให้คุณ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D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ผู้ช่วยส่วนตัวที่สั่งงานทีม AI 5 ด้านให้อัตโนมัติ — รวมทุก How To ในคำสั่งเดียว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5440680"/>
            <a:ext cx="5696712" cy="60350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5440680"/>
            <a:ext cx="5696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ดูสดด้วย Pixel Agents · VS Code + Claude Code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เลขา AI + ทีมผู้ช่วย 5 ด้าน (มัลติเอเจนต์)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229600" y="420624"/>
            <a:ext cx="3410712" cy="420624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 w="12700">
            <a:solidFill>
              <a:srgbClr val="3833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20624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ดูสดด้วย Pixel Agents (VS Code)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flipH="1">
            <a:off x="1554480" y="2103120"/>
            <a:ext cx="4535424" cy="1097280"/>
          </a:xfrm>
          <a:prstGeom prst="line">
            <a:avLst/>
          </a:prstGeom>
          <a:noFill/>
          <a:ln w="19050">
            <a:solidFill>
              <a:srgbClr val="E0D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3822192" y="2103120"/>
            <a:ext cx="2267712" cy="1097280"/>
          </a:xfrm>
          <a:prstGeom prst="line">
            <a:avLst/>
          </a:prstGeom>
          <a:noFill/>
          <a:ln w="19050">
            <a:solidFill>
              <a:srgbClr val="E0D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9904" y="2103120"/>
            <a:ext cx="0" cy="1097280"/>
          </a:xfrm>
          <a:prstGeom prst="line">
            <a:avLst/>
          </a:prstGeom>
          <a:noFill/>
          <a:ln w="19050">
            <a:solidFill>
              <a:srgbClr val="E0D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9904" y="2103120"/>
            <a:ext cx="2267712" cy="1097280"/>
          </a:xfrm>
          <a:prstGeom prst="line">
            <a:avLst/>
          </a:prstGeom>
          <a:noFill/>
          <a:ln w="19050">
            <a:solidFill>
              <a:srgbClr val="E0D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9904" y="2103120"/>
            <a:ext cx="4535424" cy="1097280"/>
          </a:xfrm>
          <a:prstGeom prst="line">
            <a:avLst/>
          </a:prstGeom>
          <a:noFill/>
          <a:ln w="19050">
            <a:solidFill>
              <a:srgbClr val="E0D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43984" y="12344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38332B"/>
          </a:solidFill>
          <a:ln/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1234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เลขา AI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C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วางแผนและสั่งงานทีมผู้ช่วยให้อัตโนมัติ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ชื่อสินค้า + ตลาดเป้าหมาย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517904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200400"/>
            <a:ext cx="2011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61872" y="3364992"/>
            <a:ext cx="585216" cy="58521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5021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40233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Scout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21792" y="42793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หาตลาด + ผู้ซื้อ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77240" y="45354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816352" y="3200400"/>
            <a:ext cx="2011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529584" y="3364992"/>
            <a:ext cx="585216" cy="585216"/>
          </a:xfrm>
          <a:prstGeom prst="ellipse">
            <a:avLst/>
          </a:prstGeom>
          <a:solidFill>
            <a:srgbClr val="C2185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350215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889504" y="40233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 Analyst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2889504" y="42793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ภาษี + landed cost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044952" y="45354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/>
        </p:spPr>
      </p:sp>
      <p:sp>
        <p:nvSpPr>
          <p:cNvPr id="27" name="Text 22"/>
          <p:cNvSpPr/>
          <p:nvPr/>
        </p:nvSpPr>
        <p:spPr>
          <a:xfrm>
            <a:off x="2907792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84064" y="3200400"/>
            <a:ext cx="2011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797296" y="3364992"/>
            <a:ext cx="585216" cy="585216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50215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57216" y="40233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Drafter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157216" y="42793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ร่างเอกสารส่งออก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312664" y="45354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4" name="Text 28"/>
          <p:cNvSpPr/>
          <p:nvPr/>
        </p:nvSpPr>
        <p:spPr>
          <a:xfrm>
            <a:off x="5175504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351776" y="3200400"/>
            <a:ext cx="2011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065008" y="336499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3502152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24928" y="40233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Reader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7424928" y="42793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อ่าน + สกัดข้อมูล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580376" y="45354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1" name="Text 34"/>
          <p:cNvSpPr/>
          <p:nvPr/>
        </p:nvSpPr>
        <p:spPr>
          <a:xfrm>
            <a:off x="7443216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9619488" y="3200400"/>
            <a:ext cx="2011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10332720" y="3364992"/>
            <a:ext cx="585216" cy="585216"/>
          </a:xfrm>
          <a:prstGeom prst="ellipse">
            <a:avLst/>
          </a:prstGeom>
          <a:solidFill>
            <a:srgbClr val="3949AB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3502152"/>
            <a:ext cx="310896" cy="31089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692640" y="40233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9692640" y="427939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 + กฎสากล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9848088" y="45354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48" name="Text 40"/>
          <p:cNvSpPr/>
          <p:nvPr/>
        </p:nvSpPr>
        <p:spPr>
          <a:xfrm>
            <a:off x="9710928" y="4535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/ MCP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548640" y="513892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358384"/>
            <a:ext cx="310896" cy="31089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225296" y="513892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algn="l" indent="0" marL="0"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แพ็กเกจส่งออกพร้อมใช้ — กลยุทธ์ตลาด + ต้นทุน/ภาษี + เอกสารครบชุด + รายงาน compliance</a:t>
            </a:r>
            <a:endParaRPr lang="en-US" sz="135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รูปแบบ orchestrator–worker = ทำครบ 6 ขั้นแบบ Bonus 2 ให้อัตโนมัติในคำสั่งเดียว · ต่อ tools/MCP ยิ่งมาก ยิ่งทำงานแทนได้มาก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สร้างสด: ทำตามทีละขั้น (Pixel Agents)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ทำตามนี้ทีละข้อบนเวที — ผู้ชมจะเห็นทีมเอเจนต์ทำงานจริงไปพร้อมกัน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64208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642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72768" y="1435608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เปิดโฟลเดอร์เปล่าใน VS Code · วางไฟล์ PDF ตัวอย่างลงไป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0488" y="1325880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64208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642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214616" y="1435608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เปิดแผง Pixel Agents → กด "+ Agent" (เริ่ม Claude Code = Orchestrator)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108960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08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572768" y="2880360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วาง Master Prompt (สไลด์ถัดไป) — สั่งให้ใช้ Task tool แตกเป็น 5 เอเจนต์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0488" y="2770632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108960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108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214616" y="2880360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ดูตัวละคร 5 ตัวทำงานพร้อมกัน: ตลาด · ภาษี · ร่างเอกสาร · อ่าน · ตรวจ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553712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5537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1572768" y="4325112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เปิดไฟล์ที่ AI สร้าง (invoice.md, packing_list.md) โชว์ผลจริง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0488" y="4215384"/>
            <a:ext cx="54498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553712"/>
            <a:ext cx="621792" cy="621792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537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214616" y="4325112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ปิดท้ายด้วย summary.md — แผน + ต้นทุน + เอกสาร + compliance ครบในที่เดียว</a:t>
            </a:r>
            <a:endParaRPr lang="en-US" sz="13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ซ้อมก่อนขึ้นเวที · เตรียมวิดีโอสำรอง · อย่าใช้ --dangerously-skip-permissions บนเครื่องที่มีข้อมูลสำคัญ (รันใน VM/แซนด์บ็อกซ์)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383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มัลติเอเจนต์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Prompt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คำสั่งเดียว ให้เลขา AI สั่งงานทั้งทีม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2468880"/>
          </a:xfrm>
          <a:prstGeom prst="roundRect">
            <a:avLst>
              <a:gd name="adj" fmla="val 3333"/>
            </a:avLst>
          </a:prstGeom>
          <a:solidFill>
            <a:srgbClr val="ECE6D8"/>
          </a:solidFill>
          <a:ln w="15875">
            <a:solidFill>
              <a:srgbClr val="3833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4592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3833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6936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6459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/ คัดลอกนี้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231136"/>
            <a:ext cx="8732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อัปโหลดไฟล์ข้อมูลส่งออกนี้ แล้วทำงานเป็นทีมเอเจนต์ให้ครบ 6 ขั้นในคำสั่งเดียว (เนื้อหาเดียวกับ Bonus 2 แต่ทำอัตโนมัติ): (1) อ่านไฟล์ข้อมูล (2) หา Top 3 ตลาด + ผู้ซื้อ (3) วิเคราะห์ภาษีและ landed cost ของตลาดที่ดีที่สุด (4) ร่าง Commercial Invoice + Packing List (5) ตรวจความสอดคล้องและกฎปลายทาง (6) สรุปเป็นแผนปฏิบัติพร้อมเอกสารแนบ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930384" y="1700784"/>
            <a:ext cx="148132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1755648"/>
            <a:ext cx="1371600" cy="1371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56648" y="31638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เปิดใน ChatGPT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48640" y="4041648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6F3EC"/>
          </a:solidFill>
          <a:ln w="15875">
            <a:solidFill>
              <a:srgbClr val="BCDFC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418795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0E7A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1139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4187952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จะตอบประมาณนี้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86968" y="47640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E7A55"/>
          </a:solidFill>
          <a:ln/>
        </p:spPr>
      </p:sp>
      <p:sp>
        <p:nvSpPr>
          <p:cNvPr id="19" name="Text 14"/>
          <p:cNvSpPr/>
          <p:nvPr/>
        </p:nvSpPr>
        <p:spPr>
          <a:xfrm>
            <a:off x="1188720" y="46542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วางแผนและทำครบ 6 ขั้นเหมือน Bonus 2 (อ่านไฟล์→ตลาด→ภาษี→ร่างเอกสาร→ตรวจ→สรุป) ให้อัตโนมัติ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86968" y="51297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E7A55"/>
          </a:solidFill>
          <a:ln/>
        </p:spPr>
      </p:sp>
      <p:sp>
        <p:nvSpPr>
          <p:cNvPr id="21" name="Text 16"/>
          <p:cNvSpPr/>
          <p:nvPr/>
        </p:nvSpPr>
        <p:spPr>
          <a:xfrm>
            <a:off x="1188720" y="502005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ได้ครบในรอบเดียว: ตลาดเป้าหมาย + ต้นทุน/ภาษี + ร่างเอกสาร + รายงาน compliance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86968" y="5495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E7A55"/>
          </a:solidFill>
          <a:ln/>
        </p:spPr>
      </p:sp>
      <p:sp>
        <p:nvSpPr>
          <p:cNvPr id="23" name="Text 18"/>
          <p:cNvSpPr/>
          <p:nvPr/>
        </p:nvSpPr>
        <p:spPr>
          <a:xfrm>
            <a:off x="1188720" y="53858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ส่งต่อให้คนตรวจและอนุมัติก่อนใช้จริง — ย่นงานหลายวันเหลือไม่กี่นาที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เอกสารที่ได้เป็นร่าง — ต้องคนตรวจ ลงนาม และยื่นเอง · ตรวจตัวเลขภาษี/กฎกับแหล่งทางการก่อนใช้จริง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ต่อยอด: Pipeline ส่งออกอัตโนมัติ (Claude Code + MCP)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ไม่ต้องพิมพ์เอง — วางไฟล์ลงโฟลเดอร์ → เลขา AI สั่งทีมทำครบ 6 ขั้น → ได้ผลลัพธ์ (ต่อจาก Bonus 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1EEF1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วางไฟล์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./inputs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.xlsx · .pdf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CE6D8"/>
          </a:solidFill>
          <a:ln w="19050">
            <a:solidFill>
              <a:srgbClr val="3833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เลขา AI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38728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/run-export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(orchestrator)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70448" y="18288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54496" y="1828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AE7DB"/>
          </a:solidFill>
          <a:ln w="19050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ทีมผู้ช่วย 5 ด้าน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91656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(Task tool)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23376" y="18288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8288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6F3EC"/>
          </a:solidFill>
          <a:ln w="19050">
            <a:solidFill>
              <a:srgbClr val="0E7A55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07424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244584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./outputs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1-market … 7-summary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วิธีสั่งให้ทำงาน (trigger)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359359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4622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เปิดแชต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791456"/>
            <a:ext cx="3227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→ /run-export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(เห็น subagents เป็นตัวละคร Pixel Agents)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4315968"/>
            <a:ext cx="359359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98848" y="44622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98848" y="4791456"/>
            <a:ext cx="3227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./run-pipeline.sh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(วางไฟล์แล้วรันคำสั่งเดียว)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315968"/>
            <a:ext cx="359359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47888" y="446227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อัตโนมัติเต็มตัว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47888" y="4791456"/>
            <a:ext cx="32278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ตั้งเวลา / เฝ้าโฟลเดอร์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(inotify · ส่งผลออกอีเมลผ่าน MCP)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ไฟล์โปรเจกต์แนบมาให้ (export-secretary.zip) — subagents + CLAUDE.md + .mcp.json พร้อมรัน · เอกสารที่ได้เป็นร่าง ตรวจก่อนใช้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 — ออกแบบลูปให้ AI ทำงานเอง (เหนือกว่า Prompt)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เทรนด์ปี 2026 (เรียบเรียงโดย Addy Osmani / Lance Eliot · อ้างแนวคิดหัวหน้าทีม Claude Code) — เลิกพิมพ์สั่งทีละคำ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BF6EC"/>
          </a:solidFill>
          <a:ln w="15875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(เดิม)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0756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8A817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ถาม-ตอบทีละครั้ง คนสั่งทุกสเต็ป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8A817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404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จบในครั้งเดียว (one-and-done)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9900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8A817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862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พิมพ์พลาดนิดหน่อยไม่บานปลาย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417320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ECE6D8"/>
          </a:solidFill>
          <a:ln w="19050">
            <a:solidFill>
              <a:srgbClr val="3833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60020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 (ใหม่)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65392" y="20756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38332B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712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ออกแบบ “ลูปชั้นนอก” ให้ AI วนทำเองจนถึงเป้า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65392" y="25328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383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2404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คนถอยมาอยู่นอกลูป (fire-and-forget)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65392" y="29900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3833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862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เหมาะงานต่อเนื่อง/เฝ้าติดตาม · ทรงพลังแต่ต้องคุมดี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68496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ลูปมี 2 ชั้น: 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ลูปใน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(เอเจนต์วนเอง: รับรู้ → คิด → ลงมือ → สังเกตผล)    +   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ลูปนอก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(เราออกแบบ: ตั้งเวลา · ป้อนงานเอง · เรียกผู้ช่วย · ข้ามหลายรอบโดยคนไม่ต้องเฝ้า)</a:t>
            </a:r>
            <a:endParaRPr lang="en-US" sz="13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ในเด็คนี้: Pipeline + cron/เฝ้าโฟลเดอร์ = ลูปชั้นนอกที่ครอบ ‘เลขา AI’ ให้ทำงานเองต่อเนื่อง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ออกแบบลูปให้ไม่หลุดวงโคจร — 5 หลักการ + กันบิลบานปลาย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27048"/>
            <a:ext cx="402336" cy="402336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3716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ตั้งเป้าหมายลูปให้ชัด + เช็กว่า AI เข้าใจตรงกับเรา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350008"/>
            <a:ext cx="402336" cy="402336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219456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มีกลไกประเมิน — ให้ AI รู้ว่าเมื่อไรควรวนต่อ เมื่อไรควรหยุด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72968"/>
            <a:ext cx="402336" cy="402336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01752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มีจุดให้คนแทรกได้ (human-in-the-loop) — รายงานสถานะ + สั่งหยุดทัน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995928"/>
            <a:ext cx="402336" cy="402336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384048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กำหนดเงื่อนไขหยุดชัด — ถึงเป้า หรือเกินเวลา/งบที่ตั้งไว้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6903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818888"/>
            <a:ext cx="402336" cy="402336"/>
          </a:xfrm>
          <a:prstGeom prst="ellipse">
            <a:avLst/>
          </a:prstGeom>
          <a:solidFill>
            <a:srgbClr val="38332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46634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ทดสอบลูปสั้นๆ 2–3 รอบก่อนปล่อยจริงเสมอ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1371600"/>
            <a:ext cx="4005072" cy="3703320"/>
          </a:xfrm>
          <a:prstGeom prst="roundRect">
            <a:avLst>
              <a:gd name="adj" fmla="val 2222"/>
            </a:avLst>
          </a:prstGeom>
          <a:solidFill>
            <a:srgbClr val="FAF0DA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91056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02168" y="15544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กันบิลบานปลาย (ด้านมืดของลูป)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89127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38160" y="208483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เอเจนต์กินโทเคน 10–100× ของแชตทั่วไป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891272" y="27980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38160" y="279806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ลูป 5 สเต็ป ≈ 3.2× · 200 สเต็ป ทะลุ 100×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891272" y="351129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38160" y="351129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ตั้งเพดานงบ/เวลาเสมอ — กันลูปวิ่งไม่รู้จบ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891272" y="4224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38160" y="422452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ปี 2026 มีเคสองค์กรบิล AI พุ่งหนักเพราะลูปหลุดคุม</a:t>
            </a:r>
            <a:endParaRPr lang="en-US" sz="11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ลูปทรงพลังแต่อันตราย — “คิดแบบกระบวนการ ไม่ใช่แค่พรอมต์” · ทดสอบและตั้งเพดานก่อนปล่อยจริงเสมอ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8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024128"/>
            <a:ext cx="749808" cy="7498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007608" y="1207008"/>
            <a:ext cx="292608" cy="38404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861408" y="2103120"/>
            <a:ext cx="2468880" cy="51206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861408" y="21031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ทำครบในแชตเดียว</a:t>
            </a:r>
            <a:endParaRPr lang="en-US" sz="46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สอนทีละขั้น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590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E7D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สอนทีละขั้น ดูแล้วทำตามได้ทุกขั้น · หาตลาด → ภาษี → เอกสาร → ตรวจ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246120" y="5440680"/>
            <a:ext cx="5696712" cy="60350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5440680"/>
            <a:ext cx="5696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อัปโหลดไฟล์ครั้งเดียว แล้วถามต่อทีละขั้นในแชตเดียว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ทำตามทีละขั้น (ดูแล้วทำตามได้)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 — ทำครบในแชตเดียว · ส่วนที่ 1/2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+ อัปโหลดไฟล์ → หาตลาด → ภาษี/ต้นทุน · แคปหน้าจอแต่ละขั้นวางในช่องขวา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01952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934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ChatGPT + อัปโหลดไฟล์ข้อมูลส่งออก (.xlsx)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975104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9933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"นี่คือข้อมูลส่งออกของฉัน ช่วยดูให้หน่อย"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1627632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863840" y="1627632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383280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83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09067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หาตลาดที่มีโอกาส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3456432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3474720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"วิเคราะห์ Top 5 ตลาดส่งออกของฉันปี 2026 เรียงตามโอกาส พร้อมเหตุผล"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3108960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863840" y="3108960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864608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864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5720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ภาษี + ต้นทุน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4937760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4956048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"ตลาดอันดับ 1 เจอภาษีนำเข้าเท่าไหร่ และ landed cost ต่อตันเท่าไหร่"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4590288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63840" y="4590288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เคล็ดลับ: อัปโหลดไฟล์แค่ครั้งเดียว แล้ว "ถามต่อ" ในแชตเดิม AI จะจำบริบทให้ — ไม่ต้องเริ่มใหม่ทุกขั้น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ทำตามทีละขั้น (ดูแล้วทำตามได้)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 — ทำครบในแชตเดียว · ส่วนที่ 2/2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สร้างเอกสาร → ตรวจความสอดคล้อง → สรุปพร้อมใช้ · แคปหน้าจอแต่ละขั้นวางในช่องขวา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01952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934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สร้างเอกสารส่งออก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1975104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9933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"ร่าง Commercial Invoice + Packing List สำหรับออเดอร์ไปตลาดนั้น"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1627632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863840" y="1627632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383280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83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09067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ตรวจเอกสาร + กฎปลายทาง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3456432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3474720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"ตรวจว่าเอกสารสอดคล้องกันไหม และต้องมีใบรับรองอะไรตามกฎปลายทาง"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3108960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863840" y="3108960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864608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864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5720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สรุปเป็นแผนพร้อมใช้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4937760"/>
            <a:ext cx="62910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4956048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"สรุปทั้งหมดเป็นแผนปฏิบัติ + checklist เอกสารที่ต้องเตรียม"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4590288"/>
            <a:ext cx="3639312" cy="1042416"/>
          </a:xfrm>
          <a:prstGeom prst="roundRect">
            <a:avLst>
              <a:gd name="adj" fmla="val 4386"/>
            </a:avLst>
          </a:prstGeom>
          <a:solidFill>
            <a:srgbClr val="F4ECDA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63840" y="4590288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แคปหน้าจอขั้นนี้ → วางที่นี่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ตัวเลขภาษี/กฎปลายทาง ตรวจกับแหล่งทางการก่อนใช้จริง · เอกสารที่ได้เป็นร่าง ต้องคนตรวจและลงนาม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เครื่องมือเสริม — Osiris: แดชบอร์ด OSINT โอเพนซอร์ส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รวมข้อมูลสาธารณะเรียลไทม์ (เที่ยวบิน · ท่าเรือ · ภัยพิบัติ · ข่าว · คว่ำบาตร) ไว้บนแผนที่เดียว · นิยามตัวเองว่า "ทางเลือกแทน Palantir"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184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ช่วยผู้ส่งออกตรงไหน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167128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984248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คัดกรองผู้ซื้อ/เรือ กับบัญชีคว่ำบาตร OFAC (SDN) ก่อนทำสัญญา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916936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734056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ติดตามท่าเรือ/จุดคอขวดเดินเรือ และเขตความขัดแย้งที่กระทบเส้นทาง–ลีดไทม์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66674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483864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เห็นภาพรวมสถานการณ์โลกเรียลไทม์ (เที่ยวบิน ภัยพิบัติ ข่าว)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9145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ส่วนใหญ่เป็น OSINT กว้างๆ — สำหรับ SME ที่เกี่ยวตรงคือ sanctions + ความเสี่ยงเส้นทาง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61848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Osiris  vs  Palantir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16952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Osiris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00032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3952" y="23134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รูปแบบ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16952" y="2313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โอเพนซอร์ส (MIT) ฟรี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00032" y="231343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เชิงพาณิชย์ ปิดซอร์ส ราคาสูง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ผู้ใช้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16952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ใครก็ได้ · self-host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00032" y="30632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รัฐ/องค์กรขนาดใหญ่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8130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16952" y="38130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ฟีดสาธารณะ (OSINT)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00032" y="3813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บูรณาการ+วิเคราะห์ข้อมูลภายใน+ภายนอกเชิงลึก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456285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ขอบเขต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16952" y="45628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แดชบอร์ดเฝ้าระวัง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0032" y="456285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แพลตฟอร์มวิเคราะห์ครบวงจร (Gotham/Foundry)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Osiris: โอเพนซอร์ส MIT · เดโม osirisai.live — เป็นเครื่องมือเฝ้าระวังประกอบการตัดสินใจ ไม่ใช่ที่ปรึกษาด้านกฎหมาย/คว่ำบาตร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ก้าวต่อไป — AI ส่วนตัวขององค์กรคุณ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จาก “ใช้ AI สาธารณะ” → เป็นเจ้าของ AI ที่รู้จักธุรกิจคุณ และข้อมูลอยู่ภายใต้การควบคุมของคุณ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109728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ความเป็นส่วนตัว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ข้อมูลไม่รั่ว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ราคา ลูกค้า เอกสาร อยู่ในบริษัท ไม่หลุดออกแพลตฟอร์มสาธารณะ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371600"/>
            <a:ext cx="2651760" cy="109728"/>
          </a:xfrm>
          <a:prstGeom prst="roundRect">
            <a:avLst>
              <a:gd name="adj" fmla="val 25000"/>
            </a:avLst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รู้จักงานคุณ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รู้จักธุรกิจคุณ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245059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เชื่อมเอกสาร/ข้อมูลจริง (ส่งออก ราคา SOP) ตอบตรงงานของคุณ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371600"/>
            <a:ext cx="2651760" cy="109728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ทั้งทีม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พนักงานใช้ได้ปลอดภัย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82512" y="245059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ทุกคนมีผู้ช่วย AI มาตรฐานเดียวกัน คุมสิทธิ์การเข้าถึงได้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3716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80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371600"/>
            <a:ext cx="2651760" cy="109728"/>
          </a:xfrm>
          <a:prstGeom prst="roundRect">
            <a:avLst>
              <a:gd name="adj" fmla="val 25000"/>
            </a:avLst>
          </a:prstGeom>
          <a:solidFill>
            <a:srgbClr val="3949AB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เป็นเจ้าของ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9886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รันบนระบบคุณเอง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98864" y="2450592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 / on-premise — ควบคุมเต็มที่ ไม่ผูกขาดใคร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50208"/>
            <a:ext cx="5285232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วันนี้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พิมพ์ใส่ AI สาธารณะ · ข้อมูลออกนอกบริษัท · อธิบายบริบทใหม่ทุกครั้ง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0" y="3950208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355080" y="3950208"/>
            <a:ext cx="5285232" cy="1371600"/>
          </a:xfrm>
          <a:prstGeom prst="roundRect">
            <a:avLst>
              <a:gd name="adj" fmla="val 6000"/>
            </a:avLst>
          </a:prstGeom>
          <a:solidFill>
            <a:srgbClr val="ECE6D8"/>
          </a:solidFill>
          <a:ln w="19050">
            <a:solidFill>
              <a:srgbClr val="38332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8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ส่วนตัวที่รู้จักทั้งบริษัท · ข้อมูลอยู่กับคุณ · ทั้งทีมใช้ได้ทันที</a:t>
            </a:r>
            <a:endParaRPr lang="en-US" sz="12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เริ่มจาก How To วันนี้ → ต่อยอดเป็น ‘เลขา AI’ ของบริษัท → สู่ AI ส่วนตัวขององค์กรที่สร้างได้จริง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สร้างได้ยังไง — สถาปัตยกรรม AI ส่วนตัวขององค์กร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ชิ้นส่วนหลัก 5 อย่าง บนฐานระบบของคุณเอง · เริ่มเล็กที่ 1 งาน แล้วค่อยขยาย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E1EEF1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37160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ผู้ใช้: พนักงานทั้งบริษัท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6153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ทุกแผนกเข้าถึงผู้ช่วย AI ตัวเดียวกัน คุมสิทธิ์ได้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66544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FBE6EE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76272"/>
            <a:ext cx="365760" cy="36576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06654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หน้าใช้งาน (แชต/ผู้ช่วย)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03520" y="2066544"/>
            <a:ext cx="6153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ใช้บนเว็บ/มือถือ — ถาม สั่งงาน อัปโหลดเอกสาร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FAE7DB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71216"/>
            <a:ext cx="365760" cy="3657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276148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สมอง: เลขา AI + ทีมผู้ช่วย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03520" y="2761488"/>
            <a:ext cx="6153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/ MCP เชื่อมเครื่องมือ + ระบบงานจริง (อีเมล ERP ไฟล์)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566160"/>
            <a:ext cx="365760" cy="365760"/>
          </a:xfrm>
          <a:prstGeom prst="ellipse">
            <a:avLst/>
          </a:prstGeom>
          <a:solidFill>
            <a:srgbClr val="3949A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5296" y="345643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โมเดล LLM ส่วนตัว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03520" y="3456432"/>
            <a:ext cx="6153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(Llama/Qwen) รันเอง หรือ private API — ไม่ผูกขาดใคร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51376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E6F3EC"/>
          </a:solidFill>
          <a:ln w="15875">
            <a:solidFill>
              <a:srgbClr val="0E7A55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261104"/>
            <a:ext cx="365760" cy="365760"/>
          </a:xfrm>
          <a:prstGeom prst="ellipse">
            <a:avLst/>
          </a:prstGeom>
          <a:solidFill>
            <a:srgbClr val="0E7A5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25296" y="415137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ข้อมูลบริษัท (RAG)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03520" y="4151376"/>
            <a:ext cx="6153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เอกสาร/ฐานข้อมูลของคุณ ทำให้ AI รู้จักงานคุณจริง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38332B"/>
          </a:solidFill>
          <a:ln/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29184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07008" y="4846320"/>
            <a:ext cx="10268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ฐานระบบ: On-premise / Private Cloud  </a:t>
            </a:r>
            <a:pPr algn="l" indent="0" marL="0">
              <a:buNone/>
            </a:pPr>
            <a:r>
              <a:rPr lang="en-US" sz="1250" dirty="0">
                <a:solidFill>
                  <a:srgbClr val="E7D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รันบนเซิร์ฟเวอร์/คลาวด์ของคุณ ข้อมูลไม่ออกนอกองค์กร</a:t>
            </a:r>
            <a:endParaRPr lang="en-US" sz="12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053328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96112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เริ่มเล็ก: เลือก 1 use case (เช่น ผู้ช่วยเอกสารส่งออก) → วัดผล → ขยายทีละงาน · ต่อยอดจากโปรเจกต์ export-secretary ได้เลย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234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5747004" y="1234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961888" y="1234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5532120" y="14493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949AB"/>
          </a:solidFill>
          <a:ln/>
        </p:spPr>
      </p:sp>
      <p:sp>
        <p:nvSpPr>
          <p:cNvPr id="6" name="Shape 4"/>
          <p:cNvSpPr/>
          <p:nvPr/>
        </p:nvSpPr>
        <p:spPr>
          <a:xfrm>
            <a:off x="5747004" y="14493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6176772" y="14493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185B"/>
          </a:solidFill>
          <a:ln/>
        </p:spPr>
      </p:sp>
      <p:sp>
        <p:nvSpPr>
          <p:cNvPr id="8" name="Shape 6"/>
          <p:cNvSpPr/>
          <p:nvPr/>
        </p:nvSpPr>
        <p:spPr>
          <a:xfrm>
            <a:off x="5747004" y="1664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961888" y="1664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E7490"/>
          </a:solidFill>
          <a:ln/>
        </p:spPr>
      </p:sp>
      <p:sp>
        <p:nvSpPr>
          <p:cNvPr id="10" name="Shape 8"/>
          <p:cNvSpPr/>
          <p:nvPr/>
        </p:nvSpPr>
        <p:spPr>
          <a:xfrm>
            <a:off x="6176772" y="1664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949AB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664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ลองเอง วันนี้เลย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เอาสินค้าจริงของคุณ แทนคำใน [วงเล็บ] · สแกน QR เพื่อเปิดแชตพร้อม prompt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51760" y="4370832"/>
            <a:ext cx="6885432" cy="1280160"/>
          </a:xfrm>
          <a:prstGeom prst="roundRect">
            <a:avLst>
              <a:gd name="adj" fmla="val 8571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4443984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เริ่มที่:  </a:t>
            </a:r>
            <a:pPr algn="ctr" indent="0" marL="0">
              <a:buNone/>
            </a:pPr>
            <a:r>
              <a:rPr lang="en-US" sz="21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pPr algn="ctr" indent="0" marL="0">
              <a:buNone/>
            </a:pPr>
            <a:r>
              <a:rPr lang="en-US" sz="2100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หรือ   </a:t>
            </a:r>
            <a:pPr algn="ctr" indent="0" marL="0">
              <a:buNone/>
            </a:pPr>
            <a:r>
              <a:rPr lang="en-US" sz="2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chat.openai.com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834640" y="5084064"/>
            <a:ext cx="6519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อย่าลืมเปิด Web Search · ตรวจข้อมูลภาษี/กฎกับแหล่งทางการก่อนใช้จริง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8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อยากมี ‘เลขา AI’ ส่วนตัวขององค์กรคุณ?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เริ่มจากจุดเดียว แล้วขยายทั้งบริษัท — ออกแบบ · สร้าง · ติดตั้ง on-premise · เทรนทีม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194560" y="2788920"/>
            <a:ext cx="7799832" cy="2468880"/>
          </a:xfrm>
          <a:prstGeom prst="roundRect">
            <a:avLst>
              <a:gd name="adj" fmla="val 3704"/>
            </a:avLst>
          </a:prstGeom>
          <a:solidFill>
            <a:srgbClr val="ECE6D8"/>
          </a:solidFill>
          <a:ln w="19050">
            <a:solidFill>
              <a:srgbClr val="D9A441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3017520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ติดต่อ / ปรึกษา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333756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[ชื่อผู้บรรยาย — เช่น คุณคิม (ทศพล)]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3721608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ที่ปรึกษาและผู้สร้างระบบ AI สำหรับองค์กร (on-premise / agentic / MLOps)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4114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411480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 LINE ID]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4462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อีเมล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4462272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[ใส่อีเมล]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48097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โทร / เว็บ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4809744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[ใส่เบอร์ / เว็บไซต์]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57032" y="3291840"/>
            <a:ext cx="14173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0184" y="3364992"/>
            <a:ext cx="128016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99832" y="4727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สแกนเพื่อติดต่อ (ใส่ลิงก์จริง)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A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เปลี่ยนชื่อ/ช่องทาง/QR เป็นของจริงก่อนใช้งาน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8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ภาคผนวก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เอกสารตัวอย่าง — อัปโหลดให้ AI ได้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D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 · Packing List · Sales Contract (ชุดข้าวหอมมะลิ) + Invoice ต้นทางสำหรับ How To 3 สร้างเอกสาร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3611880"/>
            <a:ext cx="1645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37033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0" y="5221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D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สแกนเพื่อดาวน์โหลดไฟล์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5513832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A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(ลิงก์ตัวอย่าง — เปลี่ยนเป็นโฟลเดอร์จริงของคุณ เช่น Google Drive)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 — INV-2026-014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8641080" y="384048"/>
            <a:ext cx="2999232" cy="42062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8404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อัปโหลดไฟล์นี้ให้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" y="886968"/>
            <a:ext cx="3345397" cy="4663440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6" name="Image 0" descr="moc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32688"/>
            <a:ext cx="3235669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85477" y="1097280"/>
            <a:ext cx="3675888" cy="5212080"/>
          </a:xfrm>
          <a:prstGeom prst="roundRect">
            <a:avLst>
              <a:gd name="adj" fmla="val 199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76917" y="126187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ดาวน์โหลดไฟล์นี้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52405" y="1609344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7" y="1682496"/>
            <a:ext cx="2596896" cy="2596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85477" y="43891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ดาวน์โหลด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85477" y="46817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(ปรับ URL เมื่อมี Google Drive link จริง)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76917" y="4956048"/>
            <a:ext cx="3493008" cy="1152144"/>
          </a:xfrm>
          <a:prstGeom prst="roundRect">
            <a:avLst>
              <a:gd name="adj" fmla="val 5556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76917" y="50292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076917" y="524865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3 · HOW TO 5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(Invoice ที่มีจุดไม่ตรงกับ Packing List/Contract)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List — PL-2026-014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8641080" y="384048"/>
            <a:ext cx="2999232" cy="42062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8404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อัปโหลดไฟล์นี้ให้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" y="886968"/>
            <a:ext cx="3345397" cy="4663440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6" name="Image 0" descr="mock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32688"/>
            <a:ext cx="3235669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85477" y="1097280"/>
            <a:ext cx="3675888" cy="5212080"/>
          </a:xfrm>
          <a:prstGeom prst="roundRect">
            <a:avLst>
              <a:gd name="adj" fmla="val 199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76917" y="126187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ดาวน์โหลดไฟล์นี้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52405" y="1609344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7" y="1682496"/>
            <a:ext cx="2596896" cy="2596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85477" y="43891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ดาวน์โหลด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85477" y="46817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(ปรับ URL เมื่อมี Google Drive link จริง)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76917" y="4956048"/>
            <a:ext cx="3493008" cy="1152144"/>
          </a:xfrm>
          <a:prstGeom prst="roundRect">
            <a:avLst>
              <a:gd name="adj" fmla="val 5556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76917" y="50292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076917" y="524865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(1,180 ถุง ≠ Invoice 1,200 — planted mismatch)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Contract — SC-2026-007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8641080" y="384048"/>
            <a:ext cx="2999232" cy="42062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8404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อัปโหลดไฟล์นี้ให้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" y="886968"/>
            <a:ext cx="3345397" cy="4663440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6" name="Image 0" descr="mock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32688"/>
            <a:ext cx="3235669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85477" y="1097280"/>
            <a:ext cx="3675888" cy="5212080"/>
          </a:xfrm>
          <a:prstGeom prst="roundRect">
            <a:avLst>
              <a:gd name="adj" fmla="val 199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76917" y="126187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ดาวน์โหลดไฟล์นี้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52405" y="1609344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7" y="1682496"/>
            <a:ext cx="2596896" cy="2596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85477" y="43891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ดาวน์โหลด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85477" y="46817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(ปรับ URL เมื่อมี Google Drive link จริง)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76917" y="4956048"/>
            <a:ext cx="3493008" cy="1152144"/>
          </a:xfrm>
          <a:prstGeom prst="roundRect">
            <a:avLst>
              <a:gd name="adj" fmla="val 5556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76917" y="50292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076917" y="524865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5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(CIF ≠ FOB · ขาด HS Code — planted mismatch)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Invoice (เสื้อผ้า) — INV-TX-2026-051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8641080" y="384048"/>
            <a:ext cx="2999232" cy="42062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1080" y="38404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อัปโหลดไฟล์นี้ให้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" y="886968"/>
            <a:ext cx="3345397" cy="4663440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pic>
        <p:nvPicPr>
          <p:cNvPr id="6" name="Image 0" descr="mock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32688"/>
            <a:ext cx="3235669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85477" y="1097280"/>
            <a:ext cx="3675888" cy="5212080"/>
          </a:xfrm>
          <a:prstGeom prst="roundRect">
            <a:avLst>
              <a:gd name="adj" fmla="val 1990"/>
            </a:avLst>
          </a:prstGeom>
          <a:solidFill>
            <a:srgbClr val="FBF6EC"/>
          </a:solidFill>
          <a:ln w="12700">
            <a:solidFill>
              <a:srgbClr val="E0D3B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76917" y="126187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ดาวน์โหลดไฟล์นี้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52405" y="1609344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D3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57" y="1682496"/>
            <a:ext cx="2596896" cy="2596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85477" y="43891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→ ดาวน์โหลด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85477" y="46817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(ปรับ URL เมื่อมี Google Drive link จริง)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076917" y="4956048"/>
            <a:ext cx="3493008" cy="1152144"/>
          </a:xfrm>
          <a:prstGeom prst="roundRect">
            <a:avLst>
              <a:gd name="adj" fmla="val 5556"/>
            </a:avLst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76917" y="50292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ใช้ใน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076917" y="5248656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4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14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(เอกสารสะอาด ให้ AI อ่านและสกัดข้อมูล)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สำหรับธุรกิจ SME — Prompt ตัวอย่าง</dc:title>
  <dc:subject>PptxGenJS Presentation</dc:subject>
  <dc:creator>AI for SME</dc:creator>
  <cp:lastModifiedBy>AI for SME</cp:lastModifiedBy>
  <cp:revision>1</cp:revision>
  <dcterms:created xsi:type="dcterms:W3CDTF">2026-06-21T04:03:06Z</dcterms:created>
  <dcterms:modified xsi:type="dcterms:W3CDTF">2026-06-21T04:03:06Z</dcterms:modified>
</cp:coreProperties>
</file>